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solidFill>
            <a:srgbClr val="00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4480560"/>
            <a:ext cx="3291840" cy="3291840"/>
          </a:xfrm>
          <a:prstGeom prst="ellipse">
            <a:avLst/>
          </a:prstGeom>
          <a:solidFill>
            <a:srgbClr val="00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00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914400"/>
            <a:ext cx="914400" cy="914400"/>
          </a:xfrm>
          <a:prstGeom prst="ellipse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965960"/>
            <a:ext cx="1737360" cy="1737360"/>
          </a:xfrm>
          <a:prstGeom prst="ellipse">
            <a:avLst/>
          </a:prstGeom>
          <a:noFill/>
          <a:ln w="3175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395728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E9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♻</a:t>
            </a:r>
            <a:endParaRPr sz="2200" b="1">
              <a:solidFill>
                <a:srgbClr val="2E9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再生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9FD8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行政部 · 长期运营项目</a:t>
            </a:r>
            <a:endParaRPr sz="1400" b="1">
              <a:solidFill>
                <a:srgbClr val="9FD8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9601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小美龙再生邮局</a:t>
            </a:r>
            <a:endParaRPr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CBE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员工闲置物品循环与公益回收计划</a:t>
            </a:r>
            <a:endParaRPr sz="2000" b="0">
              <a:solidFill>
                <a:srgbClr val="CBE2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" y="4206240"/>
            <a:ext cx="6949440" cy="1051560"/>
          </a:xfrm>
          <a:prstGeom prst="roundRect">
            <a:avLst>
              <a:gd name="adj" fmla="val 12000"/>
            </a:avLst>
          </a:prstGeom>
          <a:solidFill>
            <a:srgbClr val="00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370832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你的闲置，下一站去哪儿？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FD8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让闲置重新出发，让资源循环起来。</a:t>
            </a:r>
            <a:endParaRPr sz="1200" b="0">
              <a:solidFill>
                <a:srgbClr val="9FD8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4400" y="5623560"/>
            <a:ext cx="1234440" cy="40233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0585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工位减负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31720" y="5623560"/>
            <a:ext cx="1234440" cy="40233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570585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资源循环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749039" y="5623560"/>
            <a:ext cx="1234440" cy="40233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570585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员工参与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166360" y="5623560"/>
            <a:ext cx="1234440" cy="40233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570585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公益价值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" y="6263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FB8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Medtronic Greater China 行政部 | 2026</a:t>
            </a:r>
            <a:endParaRPr sz="1000" b="0">
              <a:solidFill>
                <a:srgbClr val="8FB8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38404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一、项目背景</a:t>
            </a:r>
            <a:endParaRPr sz="24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工位闲置物品积压，传统集中清理方式存在天然阻力</a:t>
            </a:r>
            <a:endParaRPr sz="12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小美龙再生邮局 · 行政部</a:t>
            </a:r>
            <a:endParaRPr sz="9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员工的真实顾虑 —— 集中清理为什么推不动</a:t>
            </a:r>
            <a:endParaRPr sz="15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5486400" cy="566928"/>
          </a:xfrm>
          <a:prstGeom prst="roundRect">
            <a:avLst>
              <a:gd name="adj" fmla="val 1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82296" cy="56692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3794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“这个东西还能用，扔掉可惜”</a:t>
            </a:r>
            <a:endParaRPr sz="13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2404872"/>
            <a:ext cx="5486400" cy="566928"/>
          </a:xfrm>
          <a:prstGeom prst="roundRect">
            <a:avLst>
              <a:gd name="adj" fmla="val 1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404872"/>
            <a:ext cx="82296" cy="56692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51176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“不知道应该放哪里”</a:t>
            </a:r>
            <a:endParaRPr sz="13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3118104"/>
            <a:ext cx="5486400" cy="566928"/>
          </a:xfrm>
          <a:prstGeom prst="roundRect">
            <a:avLst>
              <a:gd name="adj" fmla="val 1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18104"/>
            <a:ext cx="82296" cy="566928"/>
          </a:xfrm>
          <a:prstGeom prst="rect">
            <a:avLst/>
          </a:prstGeom>
          <a:solidFill>
            <a:srgbClr val="7B52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6440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“以后可能还会用”</a:t>
            </a:r>
            <a:endParaRPr sz="13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831335"/>
            <a:ext cx="5486400" cy="566928"/>
          </a:xfrm>
          <a:prstGeom prst="roundRect">
            <a:avLst>
              <a:gd name="adj" fmla="val 1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831335"/>
            <a:ext cx="82296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“公司是不是直接当垃圾处理了”</a:t>
            </a:r>
            <a:endParaRPr sz="13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4709160"/>
            <a:ext cx="5486400" cy="1234440"/>
          </a:xfrm>
          <a:prstGeom prst="roundRect">
            <a:avLst>
              <a:gd name="adj" fmla="val 10000"/>
            </a:avLst>
          </a:prstGeom>
          <a:solidFill>
            <a:srgbClr val="FD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64608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88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结果：闲置物品长期占用工位与公共空间</a:t>
            </a:r>
            <a:endParaRPr sz="1300" b="1">
              <a:solidFill>
                <a:srgbClr val="E88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行政缺少一个让员工“放心交出来”的常态化出口。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92240" y="12344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破局点：我们本来就有一个每天开门的邮局</a:t>
            </a:r>
            <a:endParaRPr sz="15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92240" y="1691640"/>
            <a:ext cx="5193792" cy="1371600"/>
          </a:xfrm>
          <a:prstGeom prst="roundRect">
            <a:avLst>
              <a:gd name="adj" fmla="val 10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1874519"/>
            <a:ext cx="46634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依托每天正常运营的“小美龙邮局”</a:t>
            </a:r>
            <a:endParaRPr sz="135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建立一个长期开放、随时投递、可追踪的</a:t>
            </a:r>
            <a:endParaRPr sz="12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闲置物品流转平台 —— “小美龙再生邮局”</a:t>
            </a:r>
            <a:endParaRPr sz="135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92240" y="3246120"/>
            <a:ext cx="519379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429000"/>
            <a:ext cx="46634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核心转变</a:t>
            </a:r>
            <a:endParaRPr sz="12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把“一年一次的大扫除”</a:t>
            </a:r>
            <a:endParaRPr sz="12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变成“每天都可以发生的小循环”</a:t>
            </a:r>
            <a:endParaRPr sz="135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92240" y="4800600"/>
            <a:ext cx="5193792" cy="114300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4956048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员工只需要记住一句话：</a:t>
            </a:r>
            <a:endParaRPr sz="11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“不用的，不要放在工位，带到小美龙邮局。”</a:t>
            </a:r>
            <a:endParaRPr sz="13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38404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二、项目定位与目标</a:t>
            </a:r>
            <a:endParaRPr sz="24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不是“清理工位活动”，而是一个长期运营项目</a:t>
            </a:r>
            <a:endParaRPr sz="12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小美龙再生邮局 · 行政部</a:t>
            </a:r>
            <a:endParaRPr sz="9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5394960" cy="14630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7548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❌ 不是一个……</a:t>
            </a:r>
            <a:endParaRPr sz="12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一次性的“清理工位活动”</a:t>
            </a:r>
            <a:endParaRPr sz="14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活动结束即停止，无法形成习惯与数据沉淀</a:t>
            </a:r>
            <a:endParaRPr sz="11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394960" cy="1463040"/>
          </a:xfrm>
          <a:prstGeom prst="roundRect">
            <a:avLst>
              <a:gd name="adj" fmla="val 10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47548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而是一个……</a:t>
            </a:r>
            <a:endParaRPr sz="12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长期运营的循环生态项目</a:t>
            </a:r>
            <a:endParaRPr sz="14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办公空间减负 + 闲置物品循环 + 员工环保参与 + 公益贡献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项目目标：让闲置物品离开工位，但不直接进入垃圾桶</a:t>
            </a:r>
            <a:endParaRPr sz="15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3520440"/>
            <a:ext cx="260604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860">
            <a:solidFill>
              <a:srgbClr val="00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520440"/>
            <a:ext cx="2606040" cy="475488"/>
          </a:xfrm>
          <a:prstGeom prst="roundRect">
            <a:avLst>
              <a:gd name="adj" fmla="val 25000"/>
            </a:avLst>
          </a:prstGeom>
          <a:solidFill>
            <a:srgbClr val="00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工位减负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2331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释放工位与公共
空间占用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90672" y="3977639"/>
            <a:ext cx="3291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sz="20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364991" y="3520440"/>
            <a:ext cx="260604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86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64991" y="3520440"/>
            <a:ext cx="2606040" cy="475488"/>
          </a:xfrm>
          <a:prstGeom prst="roundRect">
            <a:avLst>
              <a:gd name="adj" fmla="val 25000"/>
            </a:avLst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1" y="361188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资源循环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02151" y="4160520"/>
            <a:ext cx="2331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可用物品在员工间
流转再利用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52744" y="3977639"/>
            <a:ext cx="3291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sz="20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27064" y="3520440"/>
            <a:ext cx="260604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86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27064" y="3520440"/>
            <a:ext cx="2606040" cy="475488"/>
          </a:xfrm>
          <a:prstGeom prst="roundRect">
            <a:avLst>
              <a:gd name="adj" fmla="val 25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7064" y="361188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员工参与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64224" y="4160520"/>
            <a:ext cx="2331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积分激励 + 达人榜
形成参与习惯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14816" y="3977639"/>
            <a:ext cx="3291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sz="20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089136" y="3520440"/>
            <a:ext cx="260604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86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89136" y="3520440"/>
            <a:ext cx="2606040" cy="475488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6" y="361188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公益价值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226296" y="4160520"/>
            <a:ext cx="2331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闲置物品进入
公益捐赠渠道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02920" y="5440680"/>
            <a:ext cx="11183112" cy="685800"/>
          </a:xfrm>
          <a:prstGeom prst="roundRect">
            <a:avLst>
              <a:gd name="adj" fmla="val 15000"/>
            </a:avLst>
          </a:prstGeom>
          <a:solidFill>
            <a:srgbClr val="00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14416"/>
            <a:ext cx="111831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一个有数据、有结果、可持续的 ESG × Employee Engagement 项目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38404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三、核心概念</a:t>
            </a:r>
            <a:endParaRPr sz="24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「你的闲置，下一站去哪儿？」—— 员工零负担，行政全承接</a:t>
            </a:r>
            <a:endParaRPr sz="12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小美龙再生邮局 · 行政部</a:t>
            </a:r>
            <a:endParaRPr sz="9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员工侧：只需四步，其余交给行政</a:t>
            </a:r>
            <a:endParaRPr sz="15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25146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006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4767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1  带来</a:t>
            </a:r>
            <a:endParaRPr sz="15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从工位带来闲置物品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3054096" y="2240280"/>
            <a:ext cx="310896" cy="274320"/>
          </a:xfrm>
          <a:prstGeom prst="rightArrow">
            <a:avLst/>
          </a:prstGeom>
          <a:solidFill>
            <a:srgbClr val="006B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64991" y="1783080"/>
            <a:ext cx="25146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006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1" y="194767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2  投递</a:t>
            </a:r>
            <a:endParaRPr sz="15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02151" y="24231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随时交给邮局，无需等清理日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916168" y="2240280"/>
            <a:ext cx="310896" cy="274320"/>
          </a:xfrm>
          <a:prstGeom prst="rightArrow">
            <a:avLst/>
          </a:prstGeom>
          <a:solidFill>
            <a:srgbClr val="006B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7064" y="1783080"/>
            <a:ext cx="25146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006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194767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3  分类</a:t>
            </a:r>
            <a:endParaRPr sz="15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64224" y="24231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邮局按四类标准分流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8778240" y="2240280"/>
            <a:ext cx="310896" cy="274320"/>
          </a:xfrm>
          <a:prstGeom prst="rightArrow">
            <a:avLst/>
          </a:prstGeom>
          <a:solidFill>
            <a:srgbClr val="006B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89136" y="1783080"/>
            <a:ext cx="25146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006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194767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4  下一站</a:t>
            </a:r>
            <a:endParaRPr sz="15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26296" y="24231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等待流转：新主人/再生/公益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运营模式：全年随时投递 + 每月集中处理</a:t>
            </a:r>
            <a:endParaRPr sz="15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3794760"/>
            <a:ext cx="5394960" cy="1554480"/>
          </a:xfrm>
          <a:prstGeom prst="roundRect">
            <a:avLst>
              <a:gd name="adj" fmla="val 9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77639"/>
            <a:ext cx="47548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👤 员工：全年随时投递</a:t>
            </a:r>
            <a:endParaRPr sz="14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邮局每天开门，不用“记得某一天拿东西来”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这是普通环保活动不具备的天然优势</a:t>
            </a:r>
            <a:endParaRPr sz="11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63640" y="3794760"/>
            <a:ext cx="5394960" cy="1554480"/>
          </a:xfrm>
          <a:prstGeom prst="roundRect">
            <a:avLst>
              <a:gd name="adj" fmla="val 9000"/>
            </a:avLst>
          </a:prstGeom>
          <a:solidFill>
            <a:srgbClr val="E6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977639"/>
            <a:ext cx="47548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🏢 行政：每月四周节奏集中运营</a:t>
            </a:r>
            <a:endParaRPr sz="14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投递 → 交换 → 分类 → 公益，形成固定节拍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项目从“活动”变为“日常运营”，可长期运行</a:t>
            </a:r>
            <a:endParaRPr sz="11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2920" y="5623560"/>
            <a:ext cx="11183112" cy="548640"/>
          </a:xfrm>
          <a:prstGeom prst="roundRect">
            <a:avLst>
              <a:gd name="adj" fmla="val 2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742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💡 关键设计：邮局不要只在第一周收 —— 员工随时投，行政按月集中处理，才能真正长期运行</a:t>
            </a:r>
            <a:endParaRPr sz="12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38404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四、整体循环机制</a:t>
            </a:r>
            <a:endParaRPr sz="24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四站循环：投递 → 以物易物 → 分类再生 → 公益流转</a:t>
            </a:r>
            <a:endParaRPr sz="12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小美龙再生邮局 · 行政部</a:t>
            </a:r>
            <a:endParaRPr sz="9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651760" cy="868680"/>
          </a:xfrm>
          <a:prstGeom prst="roundRect">
            <a:avLst>
              <a:gd name="adj" fmla="val 22000"/>
            </a:avLst>
          </a:prstGeom>
          <a:solidFill>
            <a:srgbClr val="00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第一站  投递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📮</a:t>
            </a:r>
            <a:endParaRPr sz="28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22860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员工随时将符合要求的
闲置物品送到邮局
（全年开放，无需预约）</a:t>
            </a:r>
            <a:endParaRPr sz="10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3172968" y="2788920"/>
            <a:ext cx="292608" cy="329184"/>
          </a:xfrm>
          <a:prstGeom prst="right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47288" y="146304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47288" y="1463040"/>
            <a:ext cx="2651760" cy="868680"/>
          </a:xfrm>
          <a:prstGeom prst="roundRect">
            <a:avLst>
              <a:gd name="adj" fmla="val 22000"/>
            </a:avLst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536192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第二站  以物易物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47288" y="248716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2E9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🔄</a:t>
            </a:r>
            <a:endParaRPr sz="2800" b="1">
              <a:solidFill>
                <a:srgbClr val="2E9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30168" y="3154680"/>
            <a:ext cx="2286000" cy="5803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每月第二周，办公/差旅/
商务电子等可再次使用
的物品开放给员工</a:t>
            </a:r>
            <a:r>
              <a:rPr lang="zh-CN" sz="10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</a:t>
            </a:r>
            <a:endParaRPr lang="zh-CN" sz="10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6117336" y="2788920"/>
            <a:ext cx="292608" cy="329184"/>
          </a:xfrm>
          <a:prstGeom prst="right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91656" y="146304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91656" y="1463040"/>
            <a:ext cx="2651760" cy="868680"/>
          </a:xfrm>
          <a:prstGeom prst="roundRect">
            <a:avLst>
              <a:gd name="adj" fmla="val 22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1536192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第三站  分类再生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91656" y="248716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008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♻️</a:t>
            </a:r>
            <a:endParaRPr sz="2800" b="1">
              <a:solidFill>
                <a:srgbClr val="008C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74536" y="3154680"/>
            <a:ext cx="22860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未被领取的物品分类：
可继续使用 / 公益捐赠
可回收 / 专业处理</a:t>
            </a:r>
            <a:endParaRPr sz="10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9061704" y="2788920"/>
            <a:ext cx="292608" cy="329184"/>
          </a:xfrm>
          <a:prstGeom prst="right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36024" y="146304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36024" y="1463040"/>
            <a:ext cx="2651760" cy="868680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6024" y="1536192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第四站  公益流转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36024" y="248716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❤️</a:t>
            </a:r>
            <a:endParaRPr sz="2800" b="1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518904" y="3154680"/>
            <a:ext cx="22860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每月第四周，将符合条件
物品统一提交至合作公益
组织 / 回收机构</a:t>
            </a:r>
            <a:endParaRPr sz="10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02920" y="4800600"/>
            <a:ext cx="11183112" cy="685800"/>
          </a:xfrm>
          <a:prstGeom prst="roundRect">
            <a:avLst>
              <a:gd name="adj" fmla="val 15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974336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最终去向：闲置物品 → 新主人 / 再生资源 / 公益用途 —— 每一件都有明确的“下一站”</a:t>
            </a:r>
            <a:endParaRPr sz="13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20" y="571500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闭环保证：每月最后一周完成清仓，不留长期库存，邮局不变成仓库</a:t>
            </a:r>
            <a:endParaRPr sz="11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38404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五、每月运营节奏</a:t>
            </a:r>
            <a:endParaRPr sz="24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固定四周节拍，形成员工习惯</a:t>
            </a:r>
            <a:endParaRPr sz="12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小美龙再生邮局 · 行政部</a:t>
            </a:r>
            <a:endParaRPr sz="9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83112" cy="457200"/>
          </a:xfrm>
          <a:prstGeom prst="rect">
            <a:avLst/>
          </a:prstGeom>
          <a:solidFill>
            <a:srgbClr val="252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20240" y="143560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0" y="143560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主要工作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89520" y="143560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118311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828800"/>
            <a:ext cx="82296" cy="676656"/>
          </a:xfrm>
          <a:prstGeom prst="rect">
            <a:avLst/>
          </a:prstGeom>
          <a:solidFill>
            <a:srgbClr val="00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29968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Week 1</a:t>
            </a:r>
            <a:endParaRPr sz="12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20240" y="202996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📮 闲置投递周</a:t>
            </a:r>
            <a:endParaRPr sz="125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0" y="2029968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员工持续向邮局提交闲置物品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89520" y="2029968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全年随时可投，本周集中宣传提醒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2578608"/>
            <a:ext cx="11183112" cy="676656"/>
          </a:xfrm>
          <a:prstGeom prst="rect">
            <a:avLst/>
          </a:prstGeom>
          <a:solidFill>
            <a:srgbClr val="F2F5F8"/>
          </a:solidFill>
          <a:ln w="952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578608"/>
            <a:ext cx="82296" cy="676656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779776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Week 2</a:t>
            </a:r>
            <a:endParaRPr sz="1200" b="1">
              <a:solidFill>
                <a:srgbClr val="2E9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20240" y="277977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🔄 以物易物周</a:t>
            </a:r>
            <a:endParaRPr sz="125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800" y="2779776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可继续使用的物品开放给员工领取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89520" y="277977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交换区开放展示：“TA的闲置 → 你的宝藏”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02920" y="3328415"/>
            <a:ext cx="1118311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328415"/>
            <a:ext cx="82296" cy="67665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29584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08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Week 3</a:t>
            </a:r>
            <a:endParaRPr sz="1200" b="1">
              <a:solidFill>
                <a:srgbClr val="008C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920240" y="352958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♻️ 分类整理周</a:t>
            </a:r>
            <a:endParaRPr sz="125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14800" y="3529584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对剩余物品分类、统计、整理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89520" y="3529584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可再用 / 公益 / 回收 / 专业处理 四分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2920" y="4078224"/>
            <a:ext cx="11183112" cy="676656"/>
          </a:xfrm>
          <a:prstGeom prst="rect">
            <a:avLst/>
          </a:prstGeom>
          <a:solidFill>
            <a:srgbClr val="F2F5F8"/>
          </a:solidFill>
          <a:ln w="952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078224"/>
            <a:ext cx="82296" cy="67665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279392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Week 4</a:t>
            </a:r>
            <a:endParaRPr sz="1200" b="1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20240" y="427939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❤️ 公益流转周</a:t>
            </a:r>
            <a:endParaRPr sz="125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14800" y="427939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向公益组织 / 专业回收机构统一提交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589520" y="427939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月末清仓，不长期库存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2920" y="4828031"/>
            <a:ext cx="1118311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828031"/>
            <a:ext cx="82296" cy="676656"/>
          </a:xfrm>
          <a:prstGeom prst="rect">
            <a:avLst/>
          </a:prstGeom>
          <a:solidFill>
            <a:srgbClr val="7B52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029199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7B529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全年</a:t>
            </a:r>
            <a:endParaRPr sz="1200" b="1">
              <a:solidFill>
                <a:srgbClr val="7B529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920240" y="5029199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🌱 积分累计</a:t>
            </a:r>
            <a:endParaRPr sz="125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114800" y="5029199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员工环保积分持续累计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589520" y="5029199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年底公布个人榜 + 部门榜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02920" y="5742432"/>
            <a:ext cx="11183112" cy="566928"/>
          </a:xfrm>
          <a:prstGeom prst="roundRect">
            <a:avLst>
              <a:gd name="adj" fmla="val 20000"/>
            </a:avLst>
          </a:prstGeom>
          <a:solidFill>
            <a:srgbClr val="FD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8704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E88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 四周节奏是行政的“处理节拍”，不是员工的“投递限制”——员工全年随时可投递</a:t>
            </a:r>
            <a:endParaRPr sz="1200" b="1">
              <a:solidFill>
                <a:srgbClr val="E88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38404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六、什么可以投递？</a:t>
            </a:r>
            <a:endParaRPr sz="24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提前定义四类标准，防止邮局变成“垃圾处理站”</a:t>
            </a:r>
            <a:endParaRPr sz="12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小美龙再生邮局 · 行政部</a:t>
            </a:r>
            <a:endParaRPr sz="9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26517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2651760" cy="566928"/>
          </a:xfrm>
          <a:prstGeom prst="roundRect">
            <a:avLst>
              <a:gd name="adj" fmla="val 20000"/>
            </a:avLst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A类｜可继续使用 ⭐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2011680"/>
            <a:ext cx="2011680" cy="365760"/>
          </a:xfrm>
          <a:prstGeom prst="roundRect">
            <a:avLst>
              <a:gd name="adj" fmla="val 3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84831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2E9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优先进入“以物易物”</a:t>
            </a:r>
            <a:endParaRPr sz="1000" b="1">
              <a:solidFill>
                <a:srgbClr val="2E9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224028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📎 办公用品
· 笔 / 笔本套装 / 笔记本 / 便签
· 马克杯 / 卡套 / 鼠标垫 / 纸袋
· 日历 / 胸牌 / 桌面收纳
· 电脑支架 / 翻页笔 / 手机支架
· 靠枕 / 加湿器
🎒 差旅用品
· 保温杯 / 背包 / 电脑包 / 行李牌
🔌 商务电子（功能正常）
· 插头 / 插座 / 充电宝 / 充电器
· 数据线 / 移动电源
⚠ 电池鼓包 / 漏液 / 损坏的
  → 转入 D 类</a:t>
            </a:r>
            <a:endParaRPr sz="10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364991" y="1325880"/>
            <a:ext cx="26517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64991" y="1325880"/>
            <a:ext cx="2651760" cy="566928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44475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B类｜公益捐赠 ❤️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85031" y="2011680"/>
            <a:ext cx="2011680" cy="365760"/>
          </a:xfrm>
          <a:prstGeom prst="roundRect">
            <a:avLst>
              <a:gd name="adj" fmla="val 3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1" y="2084831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适合进入公益渠道</a:t>
            </a:r>
            <a:endParaRPr sz="1000" b="1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93591" y="2514600"/>
            <a:ext cx="224028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完好书籍、文具
· 小型生活用品
· 儿童用品等
· 以合作公益组织接收范围为准</a:t>
            </a:r>
            <a:endParaRPr sz="10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27064" y="1325880"/>
            <a:ext cx="26517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27064" y="1325880"/>
            <a:ext cx="2651760" cy="566928"/>
          </a:xfrm>
          <a:prstGeom prst="roundRect">
            <a:avLst>
              <a:gd name="adj" fmla="val 20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3" y="144475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C类｜资源回收 ♻️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47103" y="2011680"/>
            <a:ext cx="2011680" cy="365760"/>
          </a:xfrm>
          <a:prstGeom prst="roundRect">
            <a:avLst>
              <a:gd name="adj" fmla="val 3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3" y="2084831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08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进入资源回收渠道</a:t>
            </a:r>
            <a:endParaRPr sz="1000" b="1">
              <a:solidFill>
                <a:srgbClr val="008C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55664" y="2514600"/>
            <a:ext cx="224028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纸张、纸箱
· 塑料、金属
· 其他符合回收要求的物品
· 由合规回收供应商处理</a:t>
            </a:r>
            <a:endParaRPr sz="10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089136" y="1325880"/>
            <a:ext cx="26517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89136" y="1325880"/>
            <a:ext cx="2651760" cy="566928"/>
          </a:xfrm>
          <a:prstGeom prst="roundRect">
            <a:avLst>
              <a:gd name="adj" fmla="val 20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0576" y="144475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D类｜专业处理 ⚠️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409176" y="2011680"/>
            <a:ext cx="2011680" cy="365760"/>
          </a:xfrm>
          <a:prstGeom prst="roundRect">
            <a:avLst>
              <a:gd name="adj" fmla="val 3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9176" y="2084831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E88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不进入以物易物！</a:t>
            </a:r>
            <a:endParaRPr sz="1000" b="1">
              <a:solidFill>
                <a:srgbClr val="E88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317736" y="2514600"/>
            <a:ext cx="224028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电子废弃物、电池
· 含个人/公司敏感信息的文件
· 损坏严重的物品
· 涉及安全风险的物品
→ 按 IT / EHS / Info Security /
   Waste Management 现有流程处理</a:t>
            </a:r>
            <a:endParaRPr sz="10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02920" y="6053328"/>
            <a:ext cx="11183112" cy="4572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14476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配套《可接收物品清单》：不符合要求的当面婉拒并说明原因 —— 这是对邮局日常运营最重要的保护</a:t>
            </a:r>
            <a:endParaRPr sz="11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38404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七、环保积分规则</a:t>
            </a:r>
            <a:endParaRPr sz="24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只对“有效物品”计分，防止刷分</a:t>
            </a:r>
            <a:endParaRPr sz="12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小美龙再生邮局 · 行政部</a:t>
            </a:r>
            <a:endParaRPr sz="9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积分标准</a:t>
            </a:r>
            <a:endParaRPr sz="15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6675120" cy="411480"/>
          </a:xfrm>
          <a:prstGeom prst="rect">
            <a:avLst/>
          </a:prstGeom>
          <a:solidFill>
            <a:srgbClr val="252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1965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员工行为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83280" y="181965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环保积分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320" y="181965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2194560"/>
            <a:ext cx="6675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 1 件有效物品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83280" y="23317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2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46320" y="23317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不够 3 件不积分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2761488"/>
            <a:ext cx="6675120" cy="512064"/>
          </a:xfrm>
          <a:prstGeom prst="rect">
            <a:avLst/>
          </a:prstGeom>
          <a:solidFill>
            <a:srgbClr val="F2F5F8"/>
          </a:solidFill>
          <a:ln w="952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9864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 3 件有效物品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83280" y="289864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⭐ 1 分</a:t>
            </a:r>
            <a:endParaRPr sz="12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46320" y="289864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基础单位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3328415"/>
            <a:ext cx="6675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65575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 6 件有效物品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83280" y="3465575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⭐ 2 分</a:t>
            </a:r>
            <a:endParaRPr sz="12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46320" y="3465575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累计计算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02920" y="3895344"/>
            <a:ext cx="6675120" cy="512064"/>
          </a:xfrm>
          <a:prstGeom prst="rect">
            <a:avLst/>
          </a:prstGeom>
          <a:solidFill>
            <a:srgbClr val="F2F5F8"/>
          </a:solidFill>
          <a:ln w="952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3250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 9 件有效物品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83280" y="403250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⭐ 3 分</a:t>
            </a:r>
            <a:endParaRPr sz="12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46320" y="403250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累计计算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2920" y="4462272"/>
            <a:ext cx="6675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59943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以物易物成功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83280" y="459943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 奖励分</a:t>
            </a:r>
            <a:endParaRPr sz="12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46320" y="45994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可考虑额外奖励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02920" y="5029200"/>
            <a:ext cx="6675120" cy="512064"/>
          </a:xfrm>
          <a:prstGeom prst="rect">
            <a:avLst/>
          </a:prstGeom>
          <a:solidFill>
            <a:srgbClr val="F2F5F8"/>
          </a:solidFill>
          <a:ln w="952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1663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参与公益活动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383280" y="51663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 奖励分</a:t>
            </a:r>
            <a:endParaRPr sz="12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846320" y="51663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可考虑额外奖励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89520" y="12801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为什么这样设计？</a:t>
            </a:r>
            <a:endParaRPr sz="15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589520" y="1737360"/>
            <a:ext cx="4096512" cy="1280160"/>
          </a:xfrm>
          <a:prstGeom prst="roundRect">
            <a:avLst>
              <a:gd name="adj" fmla="val 10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1874519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防刷分</a:t>
            </a:r>
            <a:endParaRPr sz="13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63840" y="224028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不按“扔几件”简单计分，只对经邮局审核的有效物品计分，避免“拿一堆低价值小物品换积分”</a:t>
            </a:r>
            <a:endParaRPr sz="10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589520" y="3154680"/>
            <a:ext cx="4096512" cy="1280160"/>
          </a:xfrm>
          <a:prstGeom prst="roundRect">
            <a:avLst>
              <a:gd name="adj" fmla="val 10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0" y="329184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简单审核</a:t>
            </a:r>
            <a:endParaRPr sz="13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863840" y="365760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邮局接收时快速判断：是否在项目范围内、是否干净完整、有无安全/信息风险</a:t>
            </a:r>
            <a:endParaRPr sz="10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589520" y="4572000"/>
            <a:ext cx="4096512" cy="1280160"/>
          </a:xfrm>
          <a:prstGeom prst="roundRect">
            <a:avLst>
              <a:gd name="adj" fmla="val 10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470916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正向引导</a:t>
            </a:r>
            <a:endParaRPr sz="13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863840" y="507492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交换成功、参与公益额外加分 —— 引导“流转”而不只是“清空”</a:t>
            </a:r>
            <a:endParaRPr sz="10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solidFill>
            <a:srgbClr val="E6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6080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 = 员工参与度的量化依据，也是年底“环保达人榜”与部门榜的唯一数据来源</a:t>
            </a:r>
            <a:endParaRPr sz="11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38404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八、年度环保达人排行榜</a:t>
            </a:r>
            <a:endParaRPr sz="24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Facility 项目升级为 Employee Engagement 项目</a:t>
            </a:r>
            <a:endParaRPr sz="12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小美龙再生邮局 · 行政部</a:t>
            </a:r>
            <a:endParaRPr sz="9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个人榜：全年积分累计</a:t>
            </a:r>
            <a:endParaRPr sz="15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60350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65376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🥇 Green Champion</a:t>
            </a:r>
            <a:endParaRPr sz="13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年度第 1 名</a:t>
            </a:r>
            <a:endParaRPr sz="11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2395728"/>
            <a:ext cx="60350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2374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🥈 Green Ambassador</a:t>
            </a:r>
            <a:endParaRPr sz="13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20" y="254203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年度第 2 名</a:t>
            </a:r>
            <a:endParaRPr sz="11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3054096"/>
            <a:ext cx="60350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8211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🥉 Green Star</a:t>
            </a:r>
            <a:endParaRPr sz="13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89120" y="32004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年度第 3 名</a:t>
            </a:r>
            <a:endParaRPr sz="11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712464"/>
            <a:ext cx="60350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 10 环保达人</a:t>
            </a:r>
            <a:endParaRPr sz="13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20" y="385876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年度前 10 名</a:t>
            </a:r>
            <a:endParaRPr sz="11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4526280"/>
            <a:ext cx="6035040" cy="914400"/>
          </a:xfrm>
          <a:prstGeom prst="roundRect">
            <a:avLst>
              <a:gd name="adj" fmla="val 12000"/>
            </a:avLst>
          </a:prstGeom>
          <a:solidFill>
            <a:srgbClr val="E6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63440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个人榜让参与“被看见”</a:t>
            </a:r>
            <a:endParaRPr sz="125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每月公布月度积分，年底公布全年总榜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49440" y="12801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部门榜：按“人均环保积分”</a:t>
            </a:r>
            <a:endParaRPr sz="15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949440" y="1737360"/>
            <a:ext cx="4736592" cy="1417320"/>
          </a:xfrm>
          <a:prstGeom prst="roundRect">
            <a:avLst>
              <a:gd name="adj" fmla="val 10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901952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为什么按人均而不是总量？</a:t>
            </a:r>
            <a:endParaRPr sz="125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若只看总积分，大部门天然占优势；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按人均积分排名才公平，也能激励全员参与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949440" y="3337560"/>
            <a:ext cx="4736592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3502152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“年度最环保部门”称号</a:t>
            </a:r>
            <a:endParaRPr sz="125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部门负责人、老板助理也能参与推动，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形成自上而下的动员力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02920" y="5715000"/>
            <a:ext cx="11183112" cy="548640"/>
          </a:xfrm>
          <a:prstGeom prst="roundRect">
            <a:avLst>
              <a:gd name="adj" fmla="val 2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833872"/>
            <a:ext cx="106984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榜单每月随“本月物品新主人”战报一起发布</a:t>
            </a:r>
            <a:endParaRPr sz="12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38404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九、物品的“第二次生命”</a:t>
            </a:r>
            <a:endParaRPr sz="24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给项目故事感：每一件物品都有下一站</a:t>
            </a:r>
            <a:endParaRPr sz="12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小美龙再生邮局 · 行政部</a:t>
            </a:r>
            <a:endParaRPr sz="9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物品旅程</a:t>
            </a:r>
            <a:endParaRPr sz="15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1183112" cy="11430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301752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6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我的第一任主人
（员工闲置）</a:t>
            </a:r>
            <a:endParaRPr sz="12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4023360" y="2212848"/>
            <a:ext cx="310896" cy="274320"/>
          </a:xfrm>
          <a:prstGeom prst="rightArrow">
            <a:avLst/>
          </a:prstGeom>
          <a:solidFill>
            <a:srgbClr val="006B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1965960"/>
            <a:ext cx="301752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6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130552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小美龙再生邮局
（投递·登记）</a:t>
            </a:r>
            <a:endParaRPr sz="12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7863840" y="2212848"/>
            <a:ext cx="310896" cy="274320"/>
          </a:xfrm>
          <a:prstGeom prst="rightArrow">
            <a:avLst/>
          </a:prstGeom>
          <a:solidFill>
            <a:srgbClr val="006B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0" y="1965960"/>
            <a:ext cx="301752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6B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130552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我的下一站
（新主人/再生/公益）</a:t>
            </a:r>
            <a:endParaRPr sz="12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32004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两个典型的“下一站”故事</a:t>
            </a:r>
            <a:endParaRPr sz="15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3657600"/>
            <a:ext cx="5394960" cy="1417320"/>
          </a:xfrm>
          <a:prstGeom prst="roundRect">
            <a:avLst>
              <a:gd name="adj" fmla="val 9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94760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📦 一本笔记本</a:t>
            </a:r>
            <a:endParaRPr sz="125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员工A不再使用 → 小美龙邮局 → 员工B领取 → 继续使用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63640" y="3657600"/>
            <a:ext cx="5394960" cy="1417320"/>
          </a:xfrm>
          <a:prstGeom prst="roundRect">
            <a:avLst>
              <a:gd name="adj" fmla="val 9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794760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❤️ 一套文具</a:t>
            </a:r>
            <a:endParaRPr sz="125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员工闲置 → 公益回收 → 公益机构 → 新的使用者</a:t>
            </a:r>
            <a:endParaRPr sz="11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5257800"/>
            <a:ext cx="11183112" cy="1005840"/>
          </a:xfrm>
          <a:prstGeom prst="roundRect">
            <a:avLst>
              <a:gd name="adj" fmla="val 10000"/>
            </a:avLst>
          </a:prstGeom>
          <a:solidFill>
            <a:srgbClr val="00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949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「本月物品新主人」月度战报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63440" y="53492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126 件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63440" y="57607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CBE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找到新主人</a:t>
            </a:r>
            <a:endParaRPr sz="1000" b="0">
              <a:solidFill>
                <a:srgbClr val="CBE2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46520" y="53492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87 件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46520" y="57607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CBE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进入循环再生</a:t>
            </a:r>
            <a:endParaRPr sz="1000" b="0">
              <a:solidFill>
                <a:srgbClr val="CBE2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9600" y="53492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 件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29600" y="57607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CBE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进入公益流转</a:t>
            </a:r>
            <a:endParaRPr sz="1000" b="0">
              <a:solidFill>
                <a:srgbClr val="CBE2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12680" y="53492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256 件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12680" y="57607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CBE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工位闲置减负</a:t>
            </a:r>
            <a:endParaRPr sz="1000" b="0">
              <a:solidFill>
                <a:srgbClr val="CBE2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960" y="58064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CBE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（示例数据）非常适合 Comms 内部宣传</a:t>
            </a:r>
            <a:endParaRPr sz="1050" b="0">
              <a:solidFill>
                <a:srgbClr val="CBE2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38404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十、现场布置与邮局操作 SOP</a:t>
            </a:r>
            <a:endParaRPr sz="24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现场从简，运营轻量 —— 不给邮局增加明显工作量</a:t>
            </a:r>
            <a:endParaRPr sz="12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小美龙再生邮局 · 行政部</a:t>
            </a:r>
            <a:endParaRPr sz="9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现场三个区域</a:t>
            </a:r>
            <a:endParaRPr sz="15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594360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00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82296" cy="1024128"/>
          </a:xfrm>
          <a:prstGeom prst="rect">
            <a:avLst/>
          </a:prstGeom>
          <a:solidFill>
            <a:srgbClr val="00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56231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投递区 📮</a:t>
            </a:r>
            <a:endParaRPr sz="13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“你的闲置，下一站去哪儿？”员工把物品交给邮局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2907791"/>
            <a:ext cx="594360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07791"/>
            <a:ext cx="82296" cy="102412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26663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9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交换区 🔄</a:t>
            </a:r>
            <a:endParaRPr sz="1300" b="1">
              <a:solidFill>
                <a:srgbClr val="2E9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410711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展示本月可领取物品：“TA的闲置 → 你的宝藏”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4078224"/>
            <a:ext cx="594360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078224"/>
            <a:ext cx="82296" cy="102412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97096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08C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分类区 ♻️</a:t>
            </a:r>
            <a:endParaRPr sz="1300" b="1">
              <a:solidFill>
                <a:srgbClr val="008C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581144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行政内部使用，不开放给员工：可再用｜公益｜回收｜专业处理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6560" y="12801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邮局每日三步操作</a:t>
            </a:r>
            <a:endParaRPr sz="15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766560" y="1737360"/>
            <a:ext cx="4919472" cy="1024128"/>
          </a:xfrm>
          <a:prstGeom prst="roundRect">
            <a:avLst>
              <a:gd name="adj" fmla="val 10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1856231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1｜接收</a:t>
            </a:r>
            <a:endParaRPr sz="13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40880" y="2212848"/>
            <a:ext cx="44348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员工提交物品，当面确认</a:t>
            </a:r>
            <a:endParaRPr sz="10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766560" y="2907791"/>
            <a:ext cx="4919472" cy="1024128"/>
          </a:xfrm>
          <a:prstGeom prst="roundRect">
            <a:avLst>
              <a:gd name="adj" fmla="val 10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3026663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2｜简单判断</a:t>
            </a:r>
            <a:endParaRPr sz="13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40880" y="3383279"/>
            <a:ext cx="44348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是否符合项目范围 / 是否干净 / 是否完整 / 有无安全与信息风险</a:t>
            </a:r>
            <a:endParaRPr sz="10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766560" y="4078224"/>
            <a:ext cx="4919472" cy="1024128"/>
          </a:xfrm>
          <a:prstGeom prst="roundRect">
            <a:avLst>
              <a:gd name="adj" fmla="val 10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4197096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3｜登记</a:t>
            </a:r>
            <a:endParaRPr sz="13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40880" y="4553712"/>
            <a:ext cx="44348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无需复杂系统，初期用一张 Excel 即可（日期/员工/部门/类别/数量/去向/积分）</a:t>
            </a:r>
            <a:endParaRPr sz="10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02920" y="5257800"/>
            <a:ext cx="11183112" cy="114300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35838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登记台账（示例 · 按公司礼品库实际物品填写）</a:t>
            </a:r>
            <a:endParaRPr sz="115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240" y="56235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</a:t>
            </a:r>
            <a:endParaRPr sz="95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" y="58704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9/1</a:t>
            </a:r>
            <a:endParaRPr sz="9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7240" y="611733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9/2</a:t>
            </a:r>
            <a:endParaRPr sz="9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286000" y="56235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</a:t>
            </a:r>
            <a:endParaRPr sz="95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286000" y="58704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</a:t>
            </a:r>
            <a:endParaRPr sz="9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286000" y="611733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</a:t>
            </a:r>
            <a:endParaRPr sz="9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794759" y="56235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</a:t>
            </a:r>
            <a:endParaRPr sz="95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794759" y="58704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HR</a:t>
            </a:r>
            <a:endParaRPr sz="9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94759" y="611733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Finance</a:t>
            </a:r>
            <a:endParaRPr sz="9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03519" y="56235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物品类别</a:t>
            </a:r>
            <a:endParaRPr sz="95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303519" y="58704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马克杯</a:t>
            </a:r>
            <a:endParaRPr sz="9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303519" y="611733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充电宝+数据线</a:t>
            </a:r>
            <a:endParaRPr sz="9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812279" y="56235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数量</a:t>
            </a:r>
            <a:endParaRPr sz="95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812279" y="58704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812279" y="611733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321040" y="56235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去向</a:t>
            </a:r>
            <a:endParaRPr sz="95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321040" y="58704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以物易物</a:t>
            </a:r>
            <a:endParaRPr sz="9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21040" y="611733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D类回收</a:t>
            </a:r>
            <a:endParaRPr sz="9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29799" y="56235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</a:t>
            </a:r>
            <a:endParaRPr sz="95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829799" y="58704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9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829799" y="611733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95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018520" y="587044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……</a:t>
            </a:r>
            <a:endParaRPr sz="9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77240" y="6364224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💡 常用高频物品：笔本套装 / 马克杯 / 鼠标垫 / 保温杯 / 充电宝 / 数据线 —— 邮局接收时快速识别、登记台账</a:t>
            </a:r>
            <a:endParaRPr sz="9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38404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十一、项目 KPI 与年度报告</a:t>
            </a:r>
            <a:endParaRPr sz="24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不只统计“收了多少东西”</a:t>
            </a:r>
            <a:endParaRPr sz="12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小美龙再生邮局 · 行政部</a:t>
            </a:r>
            <a:endParaRPr sz="9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0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210312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860">
            <a:solidFill>
              <a:srgbClr val="00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2103120" cy="73152"/>
          </a:xfrm>
          <a:prstGeom prst="rect">
            <a:avLst/>
          </a:prstGeom>
          <a:solidFill>
            <a:srgbClr val="00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572768"/>
            <a:ext cx="18836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员工参与人数</a:t>
            </a:r>
            <a:endParaRPr sz="12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648" y="2286000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参与人数 / 员工总人数</a:t>
            </a:r>
            <a:endParaRPr sz="10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98063" y="1325880"/>
            <a:ext cx="210312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86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8063" y="1325880"/>
            <a:ext cx="2103120" cy="73152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1" y="1572768"/>
            <a:ext cx="18836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闲置物品流转量</a:t>
            </a:r>
            <a:endParaRPr sz="12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07791" y="2286000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每月回收多少件</a:t>
            </a:r>
            <a:endParaRPr sz="10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93207" y="1325880"/>
            <a:ext cx="210312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86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93207" y="1325880"/>
            <a:ext cx="2103120" cy="7315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2936" y="1572768"/>
            <a:ext cx="18836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再利用率</a:t>
            </a:r>
            <a:endParaRPr sz="12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02936" y="2286000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多少物品被其他员工领取</a:t>
            </a:r>
            <a:endParaRPr sz="10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388352" y="1325880"/>
            <a:ext cx="210312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86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1325880"/>
            <a:ext cx="210312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1572768"/>
            <a:ext cx="18836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公益贡献</a:t>
            </a:r>
            <a:endParaRPr sz="12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79" y="2286000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向公益组织流转多少件</a:t>
            </a:r>
            <a:endParaRPr sz="10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683496" y="1325880"/>
            <a:ext cx="210312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860">
            <a:solidFill>
              <a:srgbClr val="7B52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83496" y="1325880"/>
            <a:ext cx="2103120" cy="73152"/>
          </a:xfrm>
          <a:prstGeom prst="rect">
            <a:avLst/>
          </a:prstGeom>
          <a:solidFill>
            <a:srgbClr val="7B52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3224" y="1572768"/>
            <a:ext cx="18836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环保积分</a:t>
            </a:r>
            <a:endParaRPr sz="12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93224" y="2286000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全年累计环保积分</a:t>
            </a:r>
            <a:endParaRPr sz="10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32004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年底输出：《2026 小美龙再生邮局年度报告》（一页）</a:t>
            </a:r>
            <a:endParaRPr sz="15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2920" y="3657600"/>
            <a:ext cx="11183112" cy="2148840"/>
          </a:xfrm>
          <a:prstGeom prst="roundRect">
            <a:avLst>
              <a:gd name="adj" fmla="val 6000"/>
            </a:avLst>
          </a:prstGeom>
          <a:solidFill>
            <a:srgbClr val="00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840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年度成果总览（示例版式）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68680" y="4343400"/>
            <a:ext cx="1417320" cy="1234440"/>
          </a:xfrm>
          <a:prstGeom prst="roundRect">
            <a:avLst>
              <a:gd name="adj" fmla="val 12000"/>
            </a:avLst>
          </a:prstGeom>
          <a:solidFill>
            <a:srgbClr val="00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52628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 人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68680" y="4937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CBE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参与员工</a:t>
            </a:r>
            <a:endParaRPr sz="1000" b="0">
              <a:solidFill>
                <a:srgbClr val="CBE2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404872" y="4343400"/>
            <a:ext cx="1417320" cy="1234440"/>
          </a:xfrm>
          <a:prstGeom prst="roundRect">
            <a:avLst>
              <a:gd name="adj" fmla="val 12000"/>
            </a:avLst>
          </a:prstGeom>
          <a:solidFill>
            <a:srgbClr val="00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04872" y="452628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XXXX 件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404872" y="4937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CBE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收集闲置物品</a:t>
            </a:r>
            <a:endParaRPr sz="1000" b="0">
              <a:solidFill>
                <a:srgbClr val="CBE2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3941063" y="4343400"/>
            <a:ext cx="1417320" cy="1234440"/>
          </a:xfrm>
          <a:prstGeom prst="roundRect">
            <a:avLst>
              <a:gd name="adj" fmla="val 12000"/>
            </a:avLst>
          </a:prstGeom>
          <a:solidFill>
            <a:srgbClr val="00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41063" y="452628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 件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41063" y="4937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CBE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员工二次使用</a:t>
            </a:r>
            <a:endParaRPr sz="1000" b="0">
              <a:solidFill>
                <a:srgbClr val="CBE2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477256" y="4343400"/>
            <a:ext cx="1417320" cy="1234440"/>
          </a:xfrm>
          <a:prstGeom prst="roundRect">
            <a:avLst>
              <a:gd name="adj" fmla="val 12000"/>
            </a:avLst>
          </a:prstGeom>
          <a:solidFill>
            <a:srgbClr val="00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77256" y="452628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 件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77256" y="4937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CBE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公益流转</a:t>
            </a:r>
            <a:endParaRPr sz="1000" b="0">
              <a:solidFill>
                <a:srgbClr val="CBE2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013448" y="4343400"/>
            <a:ext cx="1417320" cy="1234440"/>
          </a:xfrm>
          <a:prstGeom prst="roundRect">
            <a:avLst>
              <a:gd name="adj" fmla="val 12000"/>
            </a:avLst>
          </a:prstGeom>
          <a:solidFill>
            <a:srgbClr val="00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13448" y="452628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 件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013448" y="4937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CBE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资源回收</a:t>
            </a:r>
            <a:endParaRPr sz="1000" b="0">
              <a:solidFill>
                <a:srgbClr val="CBE2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549640" y="4343400"/>
            <a:ext cx="1417320" cy="1234440"/>
          </a:xfrm>
          <a:prstGeom prst="roundRect">
            <a:avLst>
              <a:gd name="adj" fmla="val 12000"/>
            </a:avLst>
          </a:prstGeom>
          <a:solidFill>
            <a:srgbClr val="00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9640" y="452628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 分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549640" y="4937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CBE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累计环保积分</a:t>
            </a:r>
            <a:endParaRPr sz="1000" b="0">
              <a:solidFill>
                <a:srgbClr val="CBE2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0085832" y="4343400"/>
            <a:ext cx="1417320" cy="1234440"/>
          </a:xfrm>
          <a:prstGeom prst="roundRect">
            <a:avLst>
              <a:gd name="adj" fmla="val 12000"/>
            </a:avLst>
          </a:prstGeom>
          <a:solidFill>
            <a:srgbClr val="00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85832" y="452628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 人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085832" y="4937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CBE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年度环保达人</a:t>
            </a:r>
            <a:endParaRPr sz="1000" b="0">
              <a:solidFill>
                <a:srgbClr val="CBE2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68680" y="54864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D8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有数据、有结果 —— 从“小活动”升级为可汇报的 ESG / Employee Engagement 项目</a:t>
            </a:r>
            <a:endParaRPr sz="1100" b="1">
              <a:solidFill>
                <a:srgbClr val="9FD8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38404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十二、推广节奏</a:t>
            </a:r>
            <a:endParaRPr sz="24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小步启动，验证闭环，再放大</a:t>
            </a:r>
            <a:endParaRPr sz="12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小美龙再生邮局 · 行政部</a:t>
            </a:r>
            <a:endParaRPr sz="9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0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5204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520440" cy="777240"/>
          </a:xfrm>
          <a:prstGeom prst="roundRect">
            <a:avLst>
              <a:gd name="adj" fmla="val 15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1  </a:t>
            </a: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试运行（1 个月）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301752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先在上海前滩总部试点</a:t>
            </a:r>
            <a:endParaRPr sz="11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目标不是数量，而是验证闭环：</a:t>
            </a:r>
            <a:endParaRPr sz="11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员工愿不愿意交</a:t>
            </a:r>
            <a:endParaRPr sz="11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什么物品最多</a:t>
            </a:r>
            <a:endParaRPr sz="11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邮局能不能承接、空间够不够</a:t>
            </a:r>
            <a:endParaRPr sz="11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以物易物有没有人参与</a:t>
            </a:r>
            <a:endParaRPr sz="11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公益组织能否稳定接收</a:t>
            </a:r>
            <a:endParaRPr sz="11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4069080" y="3200400"/>
            <a:ext cx="256032" cy="329184"/>
          </a:xfrm>
          <a:prstGeom prst="right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204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520440" cy="777240"/>
          </a:xfrm>
          <a:prstGeom prst="roundRect">
            <a:avLst>
              <a:gd name="adj" fmla="val 15000"/>
            </a:avLst>
          </a:prstGeom>
          <a:solidFill>
            <a:srgbClr val="00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81328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2  </a:t>
            </a: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正式运行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2331720"/>
            <a:ext cx="301752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试点验证通过后：</a:t>
            </a:r>
            <a:endParaRPr sz="11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“小美龙再生邮局正式开站”</a:t>
            </a:r>
            <a:endParaRPr sz="11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配合完整视觉设计稿宣传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同步启动环保积分与登记台账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每月固定四周节拍运营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7863840" y="3200400"/>
            <a:ext cx="256032" cy="329184"/>
          </a:xfrm>
          <a:prstGeom prst="rightArrow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371600"/>
            <a:ext cx="35204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371600"/>
            <a:ext cx="3520440" cy="777240"/>
          </a:xfrm>
          <a:prstGeom prst="roundRect">
            <a:avLst>
              <a:gd name="adj" fmla="val 15000"/>
            </a:avLst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481328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3  </a:t>
            </a: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年度运营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66760" y="2331720"/>
            <a:ext cx="301752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每月固定：投递/交换/分类/公益</a:t>
            </a:r>
            <a:endParaRPr sz="11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月度战报 + 月度积分榜</a:t>
            </a:r>
            <a:endParaRPr sz="11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年底：</a:t>
            </a:r>
            <a:endParaRPr sz="11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年度环保达人榜发布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年度成果报告（一页）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5623560"/>
            <a:ext cx="11183112" cy="566928"/>
          </a:xfrm>
          <a:prstGeom prst="roundRect">
            <a:avLst>
              <a:gd name="adj" fmla="val 20000"/>
            </a:avLst>
          </a:prstGeom>
          <a:solidFill>
            <a:srgbClr val="FD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5157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E88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 正式启动前置条件：先落实 ≥1 家稳定公益合作机构 + ≥1 家合规回收供应商，第四周才能真正闭环</a:t>
            </a:r>
            <a:endParaRPr sz="1200" b="1">
              <a:solidFill>
                <a:srgbClr val="E88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38404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十三、风险与对策</a:t>
            </a:r>
            <a:endParaRPr sz="24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五个关键风险，提前设计解法</a:t>
            </a:r>
            <a:endParaRPr sz="12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小美龙再生邮局 · 行政部</a:t>
            </a:r>
            <a:endParaRPr sz="9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0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457200"/>
          </a:xfrm>
          <a:prstGeom prst="rect">
            <a:avLst/>
          </a:prstGeom>
          <a:solidFill>
            <a:srgbClr val="252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0" y="1481328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11183112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82296" cy="768096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84248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邮局变成“垃圾站”</a:t>
            </a:r>
            <a:endParaRPr sz="12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0" y="1984248"/>
            <a:ext cx="5852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制定《可接收物品清单》，不符合要求的直接拒收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2715768"/>
            <a:ext cx="11183112" cy="768096"/>
          </a:xfrm>
          <a:prstGeom prst="rect">
            <a:avLst/>
          </a:prstGeom>
          <a:solidFill>
            <a:srgbClr val="F2F5F8"/>
          </a:solidFill>
          <a:ln w="952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15768"/>
            <a:ext cx="82296" cy="768096"/>
          </a:xfrm>
          <a:prstGeom prst="rect">
            <a:avLst/>
          </a:prstGeom>
          <a:solidFill>
            <a:srgbClr val="00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25496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员工为积分刷数量</a:t>
            </a:r>
            <a:endParaRPr sz="12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0" y="2825496"/>
            <a:ext cx="5852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积分只针对有效物品，由邮局接收时简单判断把关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3557015"/>
            <a:ext cx="11183112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557015"/>
            <a:ext cx="82296" cy="76809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66744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没人愿意拿“二手物品”</a:t>
            </a:r>
            <a:endParaRPr sz="12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9280" y="3666744"/>
            <a:ext cx="5852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第一阶段不强调“二手”，用“闲置物品再利用”表述；确保展示物品干净、完整、有价值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4398264"/>
            <a:ext cx="11183112" cy="768096"/>
          </a:xfrm>
          <a:prstGeom prst="rect">
            <a:avLst/>
          </a:prstGeom>
          <a:solidFill>
            <a:srgbClr val="F2F5F8"/>
          </a:solidFill>
          <a:ln w="952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398264"/>
            <a:ext cx="82296" cy="7680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07992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东西越来越多，没地方放（最大运营风险）</a:t>
            </a:r>
            <a:endParaRPr sz="12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9280" y="4507992"/>
            <a:ext cx="5852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每月最后一周必须完成清仓，不长期库存；未领取物品走公益/回收/专业处理，邮局不变仓库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02920" y="5239512"/>
            <a:ext cx="11183112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82296" cy="768096"/>
          </a:xfrm>
          <a:prstGeom prst="rect">
            <a:avLst/>
          </a:prstGeom>
          <a:solidFill>
            <a:srgbClr val="7B52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349240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公益组织不是随时收</a:t>
            </a:r>
            <a:endParaRPr sz="12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69280" y="5349240"/>
            <a:ext cx="5852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启动前落实 ≥1 家稳定公益机构 + ≥1 家合规回收供应商</a:t>
            </a:r>
            <a:endParaRPr sz="1100" b="0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38404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252C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十四、项目口号与启动计划</a:t>
            </a:r>
            <a:endParaRPr sz="2400" b="1">
              <a:solidFill>
                <a:srgbClr val="252C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一句话传播，六个文件启动</a:t>
            </a:r>
            <a:endParaRPr sz="12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小美龙再生邮局 · 行政部</a:t>
            </a:r>
            <a:endParaRPr sz="90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000" b="1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00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你的闲置，下一站去哪儿？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176272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FD8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让闲置重新出发，让资源循环起来。</a:t>
            </a:r>
            <a:endParaRPr sz="1300" b="0">
              <a:solidFill>
                <a:srgbClr val="9FD8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第一版启动交付物（6 个文件）</a:t>
            </a:r>
            <a:endParaRPr sz="15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42900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5701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项目 Charter</a:t>
            </a:r>
            <a:endParaRPr sz="13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 / 目标 / 机制 / KPI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97680" y="342900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55701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一页流程图</a:t>
            </a:r>
            <a:endParaRPr sz="13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26280" y="39319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四站循环 + 每月节拍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92440" y="342900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55701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员工宣传海报</a:t>
            </a:r>
            <a:endParaRPr sz="13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39319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Slogan + 投递指引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448056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0857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物品接收清单</a:t>
            </a:r>
            <a:endParaRPr sz="13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A/B/C/D 四类标准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297680" y="448056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60857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积分规则</a:t>
            </a:r>
            <a:endParaRPr sz="13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6280" y="49834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计分标准 + 防刷分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92440" y="448056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60857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邮局操作 SOP</a:t>
            </a:r>
            <a:endParaRPr sz="13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21040" y="49834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三步操作 + 登记台账</a:t>
            </a:r>
            <a:endParaRPr sz="1050" b="0">
              <a:solidFill>
                <a:srgbClr val="6B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02920" y="5623560"/>
            <a:ext cx="11183112" cy="640080"/>
          </a:xfrm>
          <a:prstGeom prst="roundRect">
            <a:avLst>
              <a:gd name="adj" fmla="val 15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788152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7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项目定位：办公空间减负 × 闲置物品循环 × 员工环保参与 × 公益贡献 —— 长期运营项目</a:t>
            </a:r>
            <a:endParaRPr sz="1300" b="1">
              <a:solidFill>
                <a:srgbClr val="1F7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4612</Words>
  <Application>WPS 演示</Application>
  <PresentationFormat>On-screen Show (4:3)</PresentationFormat>
  <Paragraphs>671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JoJo_Shi</cp:lastModifiedBy>
  <cp:revision>2</cp:revision>
  <dcterms:created xsi:type="dcterms:W3CDTF">2013-01-27T09:14:00Z</dcterms:created>
  <dcterms:modified xsi:type="dcterms:W3CDTF">2026-09-07T08:16:17Z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23258436DA4C4A5CAEF70D155E905B66_12</vt:lpwstr>
  </property>
</Properties>
</file>