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278" r:id="rId15"/>
    <p:sldId id="263" r:id="rId16"/>
    <p:sldId id="264" r:id="rId17"/>
    <p:sldId id="266" r:id="rId18"/>
    <p:sldId id="296" r:id="rId19"/>
    <p:sldId id="269" r:id="rId20"/>
    <p:sldId id="270" r:id="rId21"/>
    <p:sldId id="272" r:id="rId22"/>
    <p:sldId id="292" r:id="rId23"/>
    <p:sldId id="275" r:id="rId24"/>
  </p:sldIdLst>
  <p:sldSz cx="12192000" cy="6858000"/>
  <p:notesSz cx="6858000" cy="12192000"/>
  <p:embeddedFontLst>
    <p:embeddedFont>
      <p:font typeface="MiSans" panose="02010600030101010101" charset="-122"/>
      <p:regular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微软雅黑" panose="020B0503020204020204" pitchFamily="34" charset="-122"/>
      <p:regular r:id="rId27"/>
      <p:bold r:id="rId28"/>
    </p:embeddedFont>
    <p:embeddedFont>
      <p:font typeface="微软雅黑" panose="020B0503020204020204" pitchFamily="34" charset="-122"/>
      <p:regular r:id="rId27"/>
      <p:bold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68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3F618-CD30-9720-19AE-3A8691AA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7BB36-03D4-1BBA-117B-8A4936110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89524-2D32-E73A-4841-3C2EC474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2A9FE-4A2C-F22E-BA43-0C7DB20E0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25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1FA3-AD1D-5E07-3885-79FE369D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0C968-5145-D777-4C7B-A7AD6EFE9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F9BFE-CF31-2377-3AC7-DD5B8C17D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D7724-5327-904F-CA09-D26D8FD6E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00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D7E5-82A3-5BE9-EB80-DF58AED2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36941-2434-668A-85C9-26F3B6A91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62792-01F9-99B8-D173-3F44C9097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37B10-C7EE-3EB9-D4EC-404C551C3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86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D18D-1342-A453-B32A-C726661F8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AF49F-CEFA-B547-8872-6E937D771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CA07D-8AC8-982B-9A68-5736D7FB5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DE746-9EA5-66E3-982E-82238B9446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8602-46C2-4CDF-1217-339B4215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902E6-F3D6-F8B1-590E-2131FE9D4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9EC4B-E2D4-389C-36ED-BCA37086E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D5EC7-5B19-5E1A-6ED0-C64619DB8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07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C588E-0A57-8248-B251-DC9B1063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83524-8378-9E02-16E6-16B4C34D8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19DCD-808B-04AC-1F7A-36567B539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CDCE1-841B-72C3-A5D5-BD066ED85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76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178F-B7FC-DB9F-706A-82447F1E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FAF00-1710-6610-701A-9AB7708C7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38D79-C83D-6FAB-242E-83AF7828A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B96B7-ACEE-5721-A960-874005D13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14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DC38-8B48-0E33-2FFA-2FB16B6F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049D2-5204-D842-B3A1-F716C72F0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DECBA-A223-9E7F-1263-A07FC1E05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FD740-3632-7E39-3785-29FEA745B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9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ARMS</a:t>
            </a:r>
            <a:r>
              <a:rPr lang="zh-CN" altLang="en-US" dirty="0">
                <a:effectLst/>
              </a:rPr>
              <a:t>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监控基础版</a:t>
            </a:r>
            <a:r>
              <a:rPr lang="zh-CN" altLang="en-US" dirty="0">
                <a:effectLst/>
              </a:rPr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CPU/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内存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数据库监控</a:t>
            </a:r>
            <a:r>
              <a:rPr lang="zh-CN" altLang="en-US" dirty="0">
                <a:effectLst/>
              </a:rPr>
              <a:t>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实时监控服务器负载、数据库性能，设置阈值告警。</a:t>
            </a:r>
            <a:r>
              <a:rPr lang="zh-CN" altLang="en-US" dirty="0">
                <a:effectLst/>
              </a:rPr>
              <a:t> </a:t>
            </a:r>
            <a:endParaRPr lang="en-US" altLang="zh-CN" dirty="0">
              <a:effectLst/>
            </a:endParaRP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SLS</a:t>
            </a:r>
            <a:r>
              <a:rPr lang="zh-CN" altLang="en-US" dirty="0">
                <a:effectLst/>
              </a:rPr>
              <a:t>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日志服务基础版</a:t>
            </a:r>
            <a:r>
              <a:rPr lang="zh-CN" altLang="en-US" dirty="0">
                <a:effectLst/>
              </a:rPr>
              <a:t>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访问日志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错误日志分析</a:t>
            </a:r>
            <a:r>
              <a:rPr lang="zh-CN" altLang="en-US" dirty="0">
                <a:effectLst/>
              </a:rPr>
              <a:t>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采集并分析用户访问日志、系统错误日志，快速定位问题。</a:t>
            </a:r>
            <a:r>
              <a:rPr lang="zh-CN" alt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0FDC6-2206-C645-C52A-5CAFE5CA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2D1DF-030E-28DA-CCF0-F6FBE2FD5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99F05-0927-37A8-8EA3-10BE45494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942C3-CB14-01E2-D6E9-63FCE1C32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41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1456-8685-769E-2D9A-192C2F85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8A1AB-3A0E-C64D-3996-AD9E1FF34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C4259-C475-61BE-9503-5E44172AB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91280-85F7-0C9C-B7EC-47508C8E3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48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11081385" y="1593850"/>
            <a:ext cx="377825" cy="12128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3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510" y="1980565"/>
            <a:ext cx="2806700" cy="561403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9888" y="2720340"/>
            <a:ext cx="7004552" cy="1428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zh-CN" altLang="en-US" sz="4400" b="1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渠道管理</a:t>
            </a:r>
            <a:r>
              <a:rPr lang="en-US" altLang="zh-CN" sz="4400" b="1" dirty="0" err="1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HelpDesk</a:t>
            </a:r>
            <a:br>
              <a:rPr lang="en-US" altLang="zh-CN" sz="4400" b="1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</a:br>
            <a:r>
              <a:rPr lang="zh-CN" altLang="en-US" sz="4400" b="1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项目解决方案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3" descr="https://kimi-img.moonshot.cn/pub/slides/slides_tmpl/image/25-09-05-18:06:13-d2tbc5dnfo2stf9djp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730" y="0"/>
            <a:ext cx="2870835" cy="5048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417185" y="-23495"/>
            <a:ext cx="624840" cy="200723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7206615" y="5784850"/>
            <a:ext cx="377825" cy="121285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8:06:11-d2tbc4tnfo2stf9djot0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626745" y="1224280"/>
            <a:ext cx="880110" cy="8801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10" y="0"/>
            <a:ext cx="2721610" cy="478663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9350" y="2211070"/>
            <a:ext cx="2284730" cy="17443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1149350" y="2211070"/>
            <a:ext cx="2284730" cy="17443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目录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1219835" y="2065020"/>
            <a:ext cx="2663190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CONTENTS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385570" y="2638425"/>
            <a:ext cx="166497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 flipH="1">
            <a:off x="5075555" y="135763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 flipH="1">
            <a:off x="5075555" y="217233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6"/>
          <p:cNvSpPr/>
          <p:nvPr/>
        </p:nvSpPr>
        <p:spPr>
          <a:xfrm flipH="1">
            <a:off x="5075555" y="292481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7"/>
          <p:cNvSpPr/>
          <p:nvPr/>
        </p:nvSpPr>
        <p:spPr>
          <a:xfrm flipH="1">
            <a:off x="5075555" y="370014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 flipH="1">
            <a:off x="5075555" y="444373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 flipH="1">
            <a:off x="5075555" y="522795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799205" y="6350"/>
            <a:ext cx="624840" cy="2007235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9-05-18:06:11-d2tbc4tnfo2stf9djot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8000000">
            <a:off x="9404985" y="5315585"/>
            <a:ext cx="880110" cy="880110"/>
          </a:xfrm>
          <a:prstGeom prst="rect">
            <a:avLst/>
          </a:prstGeom>
        </p:spPr>
      </p:pic>
      <p:pic>
        <p:nvPicPr>
          <p:cNvPr id="16" name="Image 4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23620" y="4619625"/>
            <a:ext cx="2172335" cy="2176780"/>
          </a:xfrm>
          <a:prstGeom prst="rect">
            <a:avLst/>
          </a:prstGeom>
        </p:spPr>
      </p:pic>
      <p:pic>
        <p:nvPicPr>
          <p:cNvPr id="17" name="Image 5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920000" flipH="1">
            <a:off x="10619105" y="-342900"/>
            <a:ext cx="2172335" cy="21767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35220" y="1170940"/>
            <a:ext cx="161925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01.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118860" y="1328702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项目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功能一览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935220" y="1955165"/>
            <a:ext cx="161925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02.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6118860" y="2103596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技术解决方案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4935220" y="2724785"/>
            <a:ext cx="161925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03.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6118860" y="2873216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系统架构图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935220" y="3431187"/>
            <a:ext cx="161925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04.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118860" y="3579618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开发计划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935220" y="4222891"/>
            <a:ext cx="161925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05.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118860" y="4371322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团队介绍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935220" y="4986990"/>
            <a:ext cx="1619250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06.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118860" y="5116759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产品预算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01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项目</a:t>
            </a: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功能一览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3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4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54000" y="17018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157" name="Text 0">
            <a:extLst>
              <a:ext uri="{FF2B5EF4-FFF2-40B4-BE49-F238E27FC236}">
                <a16:creationId xmlns:a16="http://schemas.microsoft.com/office/drawing/2014/main" id="{7B8F4BB9-C861-C33C-0359-E1924B950075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项目功能一览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1F7106-6CB5-B5A6-B0B5-AEA0F4AB7E62}"/>
              </a:ext>
            </a:extLst>
          </p:cNvPr>
          <p:cNvSpPr txBox="1"/>
          <p:nvPr/>
        </p:nvSpPr>
        <p:spPr>
          <a:xfrm>
            <a:off x="2852928" y="947440"/>
            <a:ext cx="5916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渠道管理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Helpdesk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功能一览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F5A088-88BB-2B48-62A7-14FC523B1EA3}"/>
              </a:ext>
            </a:extLst>
          </p:cNvPr>
          <p:cNvSpPr txBox="1"/>
          <p:nvPr/>
        </p:nvSpPr>
        <p:spPr>
          <a:xfrm>
            <a:off x="1499108" y="1576324"/>
            <a:ext cx="10030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为销售提供渠道管理类问题的自助查询</a:t>
            </a:r>
            <a:r>
              <a:rPr lang="en-US" altLang="zh-CN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人工答疑服务，嵌入企业微信</a:t>
            </a:r>
            <a:r>
              <a:rPr lang="en-US" altLang="zh-CN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美外之家</a:t>
            </a:r>
            <a:r>
              <a:rPr lang="en-US" altLang="zh-CN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智汇工坊板块内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7542A26-78A6-BEAE-63A4-3C22E0AFDB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092" y="1914878"/>
            <a:ext cx="7514913" cy="451282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BC6FB20-FD77-4146-101F-4FE5424BFD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6817" y="1391443"/>
            <a:ext cx="1095238" cy="24761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02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3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4AA170E2-C348-57C3-AD45-C2C4AE2BAE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/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965AAE-5AD9-D8C2-D3F4-1D328B68BD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3444" y="1143000"/>
            <a:ext cx="2644757" cy="54051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06DDD44-FC82-D4AD-E39B-E82CCBD744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8953" y="1142999"/>
            <a:ext cx="2582772" cy="53947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16184C4-8E94-D6B7-F874-78B3AD8E4A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2477" y="1143000"/>
            <a:ext cx="2577764" cy="53947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254F-2410-D474-59E4-EB5B5FE1D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9EE4BE8D-F4CD-C3D1-595C-4667C3F10D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43838681-2ED3-8C5F-203D-F2EAE52BB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A061A381-F190-F45B-51C1-F02768BE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6073F747-5123-4056-D7D7-83B581D38C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53E02A55-C576-D3AF-5BC1-054ECE823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4CA9935-9E93-47C2-39D7-7893E0F50E52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B7F0F26-AF84-1ABB-C8B0-E18107EEA971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A3AF3F7-C53E-71EF-1E3E-9319F4DCFE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7283" y="1143000"/>
            <a:ext cx="2600918" cy="539478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10D2AC5-4273-369A-BCE4-E5B892855E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8376" y="1142999"/>
            <a:ext cx="2547750" cy="539478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B07DA1C-E6FB-8037-0EEA-BB03F3CA2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301" y="1143000"/>
            <a:ext cx="2568944" cy="539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6061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5968-C632-CB99-45CD-174B459A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A44D8D47-B21F-88F0-9CE7-F63B20D588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294D5470-D057-8668-7A88-A85758E10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F9954D76-2131-7FD4-2656-FF580F07B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6B87F6F1-09F0-6B04-1830-E07E967BBB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C76E669C-8B5D-E1D8-6027-DD657E1A7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B0CB1FD-7000-9934-B7D3-D378710AD3DD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26FC892-7FBD-9AC4-1AB7-40DAD3A458B4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39518E-4A64-A38C-7925-42252FF4F2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709" y="1143000"/>
            <a:ext cx="2623861" cy="53947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86A7B4D-E4EA-3FC5-F468-6FF4D2FB64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997" y="1124401"/>
            <a:ext cx="2647081" cy="539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125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8E46-9CEC-8CBA-15DB-CC347ED2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CE453B8A-4D8B-E893-C253-10CBEFBD88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36716831-1D4A-B27F-5D56-4A65A72CB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B1435F33-81F6-4212-8E99-6E70A2B6D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A4849F6D-ACD2-4E1A-C8A8-CAC9A31533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A2E44868-3CD4-6B93-A47F-DA777B2FD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C707DD70-58FD-300C-F69C-67B182D88BF7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C83F940-D830-6809-C895-D60635C62F3C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78182F6-CE53-53D3-BCBA-D1B620EF57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618" y="1143000"/>
            <a:ext cx="9866763" cy="532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4627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8A0C-1918-FE90-F669-90F4F28A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C365743D-EA9E-200A-07CB-9826E5451A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40C52ADC-91CA-DEDB-B8B1-3C0688CF7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002821AC-899F-DA3D-6616-EE4992498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CE2F31A7-FE9E-0EAE-9E0A-9F86607E48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52D924FD-8A9F-1A9E-9829-4B19F523F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7B3C0FA-6F5F-017D-A90B-241D6E352CE0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8A55032-2EDC-67AB-1BA8-38E2ADE10312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A7945F-2EFF-9301-94E9-85E55C641D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287" y="1143000"/>
            <a:ext cx="9883664" cy="53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2960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6F963-C2B5-899F-03AD-602D228B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267D9817-E53D-E81B-A597-26C33F287C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91D9AD0F-21BC-7FC7-69E2-740393BAC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873C9BC1-52F3-7598-F4F8-5BE1FBD2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0ACB7C57-FE8A-B989-ECD5-3287E16C3E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B02A6A7D-9F0D-007E-9789-2D3F635C2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2BD1771-29DD-C524-C018-565D414CDA90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4CD7F24-1519-25B7-886C-B920BCD19284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F5A913A-1320-CD81-F663-D050E46D0D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695" y="1123748"/>
            <a:ext cx="9919358" cy="535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1295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2ED0-2697-5E9E-D233-C18D6834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3DB06B7A-7CC5-360E-9039-AA25F88240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AB3ACB87-4B7A-FF9A-8061-D718D11A8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D4375ABF-55EA-2705-1388-56E806145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85E9319E-F2CC-93EC-9703-B66184B0FE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283DADC0-3860-E14E-CD9C-79B48021D4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3964354-3195-CF87-A995-50418D6EF357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CAEF1CA-9102-6D92-83EB-4C48304FB313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30ACF7-D7D8-DF14-DB8B-E0817B33B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287" y="1069987"/>
            <a:ext cx="9724516" cy="544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7623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5A13-5C18-A50C-6121-13A7890A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84ACD8F6-FFDA-7B77-8103-F418DEA1F8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DAD79ECB-B2A1-8B91-C448-CF095DD8B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A69D3424-1444-1DCD-0A33-C396634F1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8C7ED1DD-9AD2-7FC6-8094-0A96165791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762EC150-2513-FF7E-D7EA-39E0236ED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4E12BF2-1C34-66EF-0FF7-1E1C305152B1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技术解决方案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FBE78AB-1282-8556-EA39-08F72052DFAA}"/>
              </a:ext>
            </a:extLst>
          </p:cNvPr>
          <p:cNvSpPr/>
          <p:nvPr/>
        </p:nvSpPr>
        <p:spPr>
          <a:xfrm>
            <a:off x="2540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BE8A764-2F3C-C648-07EC-0940273BD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287" y="1117584"/>
            <a:ext cx="9745344" cy="558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94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1015-B2A2-310E-6E1C-4FA80269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CBED4A3E-FDD9-4EB8-E265-EC960AEFFD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B170BA9C-0FBB-3490-7289-CEDFF45A4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483C08DA-C7E3-FEEB-97B6-10829E4D5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42F8CD1B-3CE1-33FA-107C-58F8CD4E76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CA963A78-22A7-6B85-20F1-DB37FCA38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C6299713-0441-260E-2B14-8B3999A6D8AD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功能列表及任务描述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4EB6CF-AECA-F21C-0114-6EE941833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836" y="1575008"/>
            <a:ext cx="10996325" cy="324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411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03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系统架构图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3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34" name="Google Shape;327;g2f43a688e74_0_587">
            <a:extLst>
              <a:ext uri="{FF2B5EF4-FFF2-40B4-BE49-F238E27FC236}">
                <a16:creationId xmlns:a16="http://schemas.microsoft.com/office/drawing/2014/main" id="{1E77B988-883D-5755-4C83-E91523EB6336}"/>
              </a:ext>
            </a:extLst>
          </p:cNvPr>
          <p:cNvSpPr txBox="1">
            <a:spLocks/>
          </p:cNvSpPr>
          <p:nvPr/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SzPts val="1300"/>
            </a:pPr>
            <a:fld id="{00000000-1234-1234-1234-123412341234}" type="slidenum">
              <a:rPr lang="en-US" altLang="zh-CN" smtClean="0"/>
              <a:pPr algn="r">
                <a:buSzPts val="1300"/>
              </a:pPr>
              <a:t>16</a:t>
            </a:fld>
            <a:endParaRPr lang="en-US"/>
          </a:p>
        </p:txBody>
      </p:sp>
      <p:sp>
        <p:nvSpPr>
          <p:cNvPr id="35" name="Google Shape;328;g2f43a688e74_0_587">
            <a:extLst>
              <a:ext uri="{FF2B5EF4-FFF2-40B4-BE49-F238E27FC236}">
                <a16:creationId xmlns:a16="http://schemas.microsoft.com/office/drawing/2014/main" id="{76FBAE7C-9A9C-B4D8-B562-B93CAC0B7A9A}"/>
              </a:ext>
            </a:extLst>
          </p:cNvPr>
          <p:cNvSpPr txBox="1"/>
          <p:nvPr/>
        </p:nvSpPr>
        <p:spPr>
          <a:xfrm>
            <a:off x="741588" y="4656800"/>
            <a:ext cx="5337000" cy="18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Yahei"/>
              <a:buChar char="❖"/>
            </a:pPr>
            <a:r>
              <a:rPr lang="zh-CN" sz="17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Presentation: 表现层</a:t>
            </a:r>
            <a:endParaRPr sz="17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zh-CN" sz="1500" b="0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       </a:t>
            </a:r>
            <a:r>
              <a:rPr lang="zh-CN" sz="1500" b="0" i="0" u="none" strike="noStrike" cap="none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终端用户通过企业微信进入</a:t>
            </a:r>
            <a:endParaRPr sz="1500" b="0" i="0" u="none" strike="noStrike" cap="none" dirty="0">
              <a:solidFill>
                <a:srgbClr val="59595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Yahei"/>
              <a:buChar char="❖"/>
            </a:pPr>
            <a:r>
              <a:rPr lang="zh-CN" sz="17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Access&amp;Delivery： 接入与分发层</a:t>
            </a:r>
            <a:endParaRPr sz="17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CN" sz="1500" b="0" i="0" u="none" strike="noStrike" cap="none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       服务接入推送，视频、图片等静态资源分发</a:t>
            </a:r>
            <a:endParaRPr sz="1500" b="0" i="0" u="none" strike="noStrike" cap="none" dirty="0">
              <a:solidFill>
                <a:srgbClr val="59595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Yahei"/>
              <a:buChar char="❖"/>
            </a:pPr>
            <a:r>
              <a:rPr lang="zh-CN" sz="17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Infra Service： 阿里云平台</a:t>
            </a:r>
            <a:endParaRPr sz="17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400" b="0" i="0" u="none" strike="noStrike" cap="none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      CDN、ECS、LB、RDS、Redis、阿里云视频点播、OSS</a:t>
            </a:r>
            <a:endParaRPr sz="1400" b="0" i="0" u="none" strike="noStrike" cap="none" dirty="0">
              <a:solidFill>
                <a:srgbClr val="59595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6" name="Google Shape;329;g2f43a688e74_0_587">
            <a:extLst>
              <a:ext uri="{FF2B5EF4-FFF2-40B4-BE49-F238E27FC236}">
                <a16:creationId xmlns:a16="http://schemas.microsoft.com/office/drawing/2014/main" id="{BE4DE9C3-9DDA-6894-60EB-D7EDB3531B4C}"/>
              </a:ext>
            </a:extLst>
          </p:cNvPr>
          <p:cNvSpPr txBox="1"/>
          <p:nvPr/>
        </p:nvSpPr>
        <p:spPr>
          <a:xfrm>
            <a:off x="6215013" y="4656800"/>
            <a:ext cx="5337000" cy="1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Yahei"/>
              <a:buChar char="❖"/>
            </a:pPr>
            <a:r>
              <a:rPr lang="zh-CN" sz="17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Business logic: 业务逻辑层</a:t>
            </a:r>
            <a:endParaRPr sz="17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CN" sz="1500" b="0" i="0" u="none" strike="noStrike" cap="none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      处理业务逻辑，接入微信Oauth认证，定时任务等</a:t>
            </a:r>
            <a:endParaRPr sz="1500" b="0" i="0" u="none" strike="noStrike" cap="none" dirty="0">
              <a:solidFill>
                <a:srgbClr val="59595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Yahei"/>
              <a:buChar char="❖"/>
            </a:pPr>
            <a:r>
              <a:rPr lang="zh-CN" sz="17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Repository：数据服务层</a:t>
            </a:r>
            <a:endParaRPr sz="17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CN" sz="1500" b="0" i="0" u="none" strike="noStrike" cap="none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      包含缓存，关系数据库，对象存储等中间件</a:t>
            </a:r>
            <a:endParaRPr sz="1500" b="0" i="0" u="none" strike="noStrike" cap="none" dirty="0">
              <a:solidFill>
                <a:srgbClr val="59595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icrosoft Yahei"/>
              <a:buChar char="❖"/>
            </a:pPr>
            <a:r>
              <a:rPr lang="zh-CN" sz="1700" b="1" i="0" u="none" strike="noStrike" cap="none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技术栈：前端、后端技术栈</a:t>
            </a:r>
            <a:endParaRPr sz="1700" b="1" i="0" u="none" strike="noStrike" cap="none" dirty="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500" b="0" i="0" u="none" strike="noStrike" cap="none" dirty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       React、SPA、JAVA、Spring</a:t>
            </a:r>
            <a:endParaRPr sz="1500" b="0" i="0" u="none" strike="noStrike" cap="none" dirty="0">
              <a:solidFill>
                <a:srgbClr val="595959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37" name="Picture 6">
            <a:extLst>
              <a:ext uri="{FF2B5EF4-FFF2-40B4-BE49-F238E27FC236}">
                <a16:creationId xmlns:a16="http://schemas.microsoft.com/office/drawing/2014/main" id="{FDD9C6E7-5627-07D4-852D-859B0561E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792" y="1030713"/>
            <a:ext cx="8912677" cy="3534541"/>
          </a:xfrm>
          <a:prstGeom prst="rect">
            <a:avLst/>
          </a:prstGeom>
        </p:spPr>
      </p:pic>
      <p:sp>
        <p:nvSpPr>
          <p:cNvPr id="38" name="Text 0">
            <a:extLst>
              <a:ext uri="{FF2B5EF4-FFF2-40B4-BE49-F238E27FC236}">
                <a16:creationId xmlns:a16="http://schemas.microsoft.com/office/drawing/2014/main" id="{A9EE553F-B9A3-31F6-F966-C7DE111DBE03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系统架构图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04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开发计划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3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F631-D96C-C162-0A12-8A974698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7EB2A174-8E93-F62B-5198-D5E952AF07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2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6C0848DD-D013-0275-3DEF-2ADD5A0CBD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-8069672" y="-23312414"/>
            <a:ext cx="30390245" cy="54027103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77BD232D-D973-86F5-22EC-18C2C0039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BC9FA58E-464E-CE71-F79E-B6C0F0678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5C3342AF-6E00-F44F-21B3-D8989FA76F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EF4B620B-5691-9C53-D4FD-5C3BA5924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D8395048-BE02-2EDB-9812-70342AD3F235}"/>
              </a:ext>
            </a:extLst>
          </p:cNvPr>
          <p:cNvSpPr/>
          <p:nvPr/>
        </p:nvSpPr>
        <p:spPr>
          <a:xfrm>
            <a:off x="254000" y="2209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96" name="Text 0">
            <a:extLst>
              <a:ext uri="{FF2B5EF4-FFF2-40B4-BE49-F238E27FC236}">
                <a16:creationId xmlns:a16="http://schemas.microsoft.com/office/drawing/2014/main" id="{82E39D00-BAB5-1A5C-6E59-172D4C63C4DB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开发计划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CD235E-DD45-914F-9F80-E28154616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298" y="1143000"/>
            <a:ext cx="10577126" cy="50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61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05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团队介绍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3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14400" y="28194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3251200" y="28194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4A283B2C-1CF9-20F6-1488-96E1FE39F4F3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开发团队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Google Shape;343;p4">
            <a:extLst>
              <a:ext uri="{FF2B5EF4-FFF2-40B4-BE49-F238E27FC236}">
                <a16:creationId xmlns:a16="http://schemas.microsoft.com/office/drawing/2014/main" id="{2CC055CB-EDC3-2C73-D704-5B74BFCB3C4C}"/>
              </a:ext>
            </a:extLst>
          </p:cNvPr>
          <p:cNvSpPr/>
          <p:nvPr/>
        </p:nvSpPr>
        <p:spPr>
          <a:xfrm>
            <a:off x="1855431" y="1411550"/>
            <a:ext cx="5939293" cy="4438296"/>
          </a:xfrm>
          <a:prstGeom prst="rect">
            <a:avLst/>
          </a:prstGeom>
          <a:solidFill>
            <a:srgbClr val="DDE8FF"/>
          </a:solidFill>
          <a:ln w="25400" cap="flat" cmpd="sng">
            <a:solidFill>
              <a:srgbClr val="1010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44;p4">
            <a:extLst>
              <a:ext uri="{FF2B5EF4-FFF2-40B4-BE49-F238E27FC236}">
                <a16:creationId xmlns:a16="http://schemas.microsoft.com/office/drawing/2014/main" id="{6749431B-F4CC-B1D3-F5D4-1A2A525F45B9}"/>
              </a:ext>
            </a:extLst>
          </p:cNvPr>
          <p:cNvSpPr/>
          <p:nvPr/>
        </p:nvSpPr>
        <p:spPr>
          <a:xfrm>
            <a:off x="7988337" y="1411550"/>
            <a:ext cx="2300883" cy="4438296"/>
          </a:xfrm>
          <a:prstGeom prst="rect">
            <a:avLst/>
          </a:prstGeom>
          <a:solidFill>
            <a:schemeClr val="lt2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47;p4">
            <a:extLst>
              <a:ext uri="{FF2B5EF4-FFF2-40B4-BE49-F238E27FC236}">
                <a16:creationId xmlns:a16="http://schemas.microsoft.com/office/drawing/2014/main" id="{3B3F6B54-65C0-D3D1-AA1F-F46607E29D4B}"/>
              </a:ext>
            </a:extLst>
          </p:cNvPr>
          <p:cNvCxnSpPr>
            <a:stCxn id="46" idx="2"/>
            <a:endCxn id="42" idx="0"/>
          </p:cNvCxnSpPr>
          <p:nvPr/>
        </p:nvCxnSpPr>
        <p:spPr>
          <a:xfrm>
            <a:off x="9120250" y="2514719"/>
            <a:ext cx="0" cy="92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8" name="Google Shape;350;p4">
            <a:extLst>
              <a:ext uri="{FF2B5EF4-FFF2-40B4-BE49-F238E27FC236}">
                <a16:creationId xmlns:a16="http://schemas.microsoft.com/office/drawing/2014/main" id="{78A96C1E-6293-9B8C-8CB4-7FF9F057EDE1}"/>
              </a:ext>
            </a:extLst>
          </p:cNvPr>
          <p:cNvGrpSpPr/>
          <p:nvPr/>
        </p:nvGrpSpPr>
        <p:grpSpPr>
          <a:xfrm>
            <a:off x="4286927" y="3479999"/>
            <a:ext cx="1080000" cy="403764"/>
            <a:chOff x="2688258" y="1833658"/>
            <a:chExt cx="1832694" cy="731246"/>
          </a:xfrm>
        </p:grpSpPr>
        <p:sp>
          <p:nvSpPr>
            <p:cNvPr id="39" name="Google Shape;351;p4">
              <a:extLst>
                <a:ext uri="{FF2B5EF4-FFF2-40B4-BE49-F238E27FC236}">
                  <a16:creationId xmlns:a16="http://schemas.microsoft.com/office/drawing/2014/main" id="{8B51D188-6A50-5E37-2047-F3B274A6837F}"/>
                </a:ext>
              </a:extLst>
            </p:cNvPr>
            <p:cNvSpPr/>
            <p:nvPr/>
          </p:nvSpPr>
          <p:spPr>
            <a:xfrm>
              <a:off x="2688258" y="1833658"/>
              <a:ext cx="1832694" cy="44321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项目经理</a:t>
              </a:r>
              <a:endParaRPr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352;p4">
              <a:extLst>
                <a:ext uri="{FF2B5EF4-FFF2-40B4-BE49-F238E27FC236}">
                  <a16:creationId xmlns:a16="http://schemas.microsoft.com/office/drawing/2014/main" id="{16210860-5C47-C715-74FE-1B013320BD56}"/>
                </a:ext>
              </a:extLst>
            </p:cNvPr>
            <p:cNvSpPr/>
            <p:nvPr/>
          </p:nvSpPr>
          <p:spPr>
            <a:xfrm>
              <a:off x="2688258" y="2276872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TBA(1名)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353;p4">
            <a:extLst>
              <a:ext uri="{FF2B5EF4-FFF2-40B4-BE49-F238E27FC236}">
                <a16:creationId xmlns:a16="http://schemas.microsoft.com/office/drawing/2014/main" id="{C595F73F-9DEE-5DE9-4053-9363C1FFF589}"/>
              </a:ext>
            </a:extLst>
          </p:cNvPr>
          <p:cNvGrpSpPr/>
          <p:nvPr/>
        </p:nvGrpSpPr>
        <p:grpSpPr>
          <a:xfrm>
            <a:off x="8463707" y="3443857"/>
            <a:ext cx="1313086" cy="503975"/>
            <a:chOff x="2688258" y="1963805"/>
            <a:chExt cx="1832694" cy="616409"/>
          </a:xfrm>
        </p:grpSpPr>
        <p:sp>
          <p:nvSpPr>
            <p:cNvPr id="42" name="Google Shape;349;p4">
              <a:extLst>
                <a:ext uri="{FF2B5EF4-FFF2-40B4-BE49-F238E27FC236}">
                  <a16:creationId xmlns:a16="http://schemas.microsoft.com/office/drawing/2014/main" id="{38DDF7E8-04BF-8288-52C2-C6A431EE27AD}"/>
                </a:ext>
              </a:extLst>
            </p:cNvPr>
            <p:cNvSpPr/>
            <p:nvPr/>
          </p:nvSpPr>
          <p:spPr>
            <a:xfrm>
              <a:off x="2688258" y="1963805"/>
              <a:ext cx="1832694" cy="32837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客户方</a:t>
              </a:r>
              <a:r>
                <a:rPr lang="zh-CN" altLang="en-US"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产品</a:t>
              </a:r>
              <a:r>
                <a:rPr lang="zh-CN"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经理</a:t>
              </a:r>
              <a:endParaRPr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354;p4">
              <a:extLst>
                <a:ext uri="{FF2B5EF4-FFF2-40B4-BE49-F238E27FC236}">
                  <a16:creationId xmlns:a16="http://schemas.microsoft.com/office/drawing/2014/main" id="{3D1ED842-A9BC-3D7D-C378-EFF9ACD60DF9}"/>
                </a:ext>
              </a:extLst>
            </p:cNvPr>
            <p:cNvSpPr/>
            <p:nvPr/>
          </p:nvSpPr>
          <p:spPr>
            <a:xfrm>
              <a:off x="2688258" y="2276872"/>
              <a:ext cx="1832694" cy="30334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355;p4">
            <a:extLst>
              <a:ext uri="{FF2B5EF4-FFF2-40B4-BE49-F238E27FC236}">
                <a16:creationId xmlns:a16="http://schemas.microsoft.com/office/drawing/2014/main" id="{95B36852-DC77-101F-F561-341D45A433CB}"/>
              </a:ext>
            </a:extLst>
          </p:cNvPr>
          <p:cNvGrpSpPr/>
          <p:nvPr/>
        </p:nvGrpSpPr>
        <p:grpSpPr>
          <a:xfrm>
            <a:off x="8463707" y="2038663"/>
            <a:ext cx="1313086" cy="476056"/>
            <a:chOff x="2688258" y="1982644"/>
            <a:chExt cx="1832694" cy="582260"/>
          </a:xfrm>
        </p:grpSpPr>
        <p:sp>
          <p:nvSpPr>
            <p:cNvPr id="45" name="Google Shape;356;p4">
              <a:extLst>
                <a:ext uri="{FF2B5EF4-FFF2-40B4-BE49-F238E27FC236}">
                  <a16:creationId xmlns:a16="http://schemas.microsoft.com/office/drawing/2014/main" id="{753D53BD-F6EA-0115-E88D-7B456AB48ECA}"/>
                </a:ext>
              </a:extLst>
            </p:cNvPr>
            <p:cNvSpPr/>
            <p:nvPr/>
          </p:nvSpPr>
          <p:spPr>
            <a:xfrm>
              <a:off x="2688258" y="1982644"/>
              <a:ext cx="1832694" cy="294229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客户方负责人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348;p4">
              <a:extLst>
                <a:ext uri="{FF2B5EF4-FFF2-40B4-BE49-F238E27FC236}">
                  <a16:creationId xmlns:a16="http://schemas.microsoft.com/office/drawing/2014/main" id="{AAE31808-E7A5-A02D-25D3-88BC81F78AA8}"/>
                </a:ext>
              </a:extLst>
            </p:cNvPr>
            <p:cNvSpPr/>
            <p:nvPr/>
          </p:nvSpPr>
          <p:spPr>
            <a:xfrm>
              <a:off x="2688258" y="2276872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357;p4">
            <a:extLst>
              <a:ext uri="{FF2B5EF4-FFF2-40B4-BE49-F238E27FC236}">
                <a16:creationId xmlns:a16="http://schemas.microsoft.com/office/drawing/2014/main" id="{A1A5A608-1A05-5EB2-E0E8-BFE99961B71A}"/>
              </a:ext>
            </a:extLst>
          </p:cNvPr>
          <p:cNvGrpSpPr/>
          <p:nvPr/>
        </p:nvGrpSpPr>
        <p:grpSpPr>
          <a:xfrm>
            <a:off x="4895284" y="5019615"/>
            <a:ext cx="1080000" cy="470988"/>
            <a:chOff x="977553" y="2173680"/>
            <a:chExt cx="1832694" cy="576062"/>
          </a:xfrm>
        </p:grpSpPr>
        <p:sp>
          <p:nvSpPr>
            <p:cNvPr id="48" name="Google Shape;358;p4">
              <a:extLst>
                <a:ext uri="{FF2B5EF4-FFF2-40B4-BE49-F238E27FC236}">
                  <a16:creationId xmlns:a16="http://schemas.microsoft.com/office/drawing/2014/main" id="{95A91174-FB24-9430-414A-BF3B3098F949}"/>
                </a:ext>
              </a:extLst>
            </p:cNvPr>
            <p:cNvSpPr/>
            <p:nvPr/>
          </p:nvSpPr>
          <p:spPr>
            <a:xfrm>
              <a:off x="977553" y="2173680"/>
              <a:ext cx="1832694" cy="2880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开发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359;p4">
              <a:extLst>
                <a:ext uri="{FF2B5EF4-FFF2-40B4-BE49-F238E27FC236}">
                  <a16:creationId xmlns:a16="http://schemas.microsoft.com/office/drawing/2014/main" id="{5475BBA7-E2C1-FF05-6328-FF218E599E9A}"/>
                </a:ext>
              </a:extLst>
            </p:cNvPr>
            <p:cNvSpPr/>
            <p:nvPr/>
          </p:nvSpPr>
          <p:spPr>
            <a:xfrm>
              <a:off x="977553" y="2461710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TBA(</a:t>
              </a:r>
              <a:r>
                <a:rPr lang="en-US" altLang="zh-CN" sz="12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zh-CN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名)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" name="Google Shape;360;p4">
            <a:extLst>
              <a:ext uri="{FF2B5EF4-FFF2-40B4-BE49-F238E27FC236}">
                <a16:creationId xmlns:a16="http://schemas.microsoft.com/office/drawing/2014/main" id="{AB273AA6-3CAF-3875-A2A0-550E5E835B54}"/>
              </a:ext>
            </a:extLst>
          </p:cNvPr>
          <p:cNvCxnSpPr>
            <a:cxnSpLocks/>
            <a:stCxn id="56" idx="2"/>
            <a:endCxn id="39" idx="0"/>
          </p:cNvCxnSpPr>
          <p:nvPr/>
        </p:nvCxnSpPr>
        <p:spPr>
          <a:xfrm>
            <a:off x="4826927" y="2263215"/>
            <a:ext cx="0" cy="121678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1" name="Google Shape;362;p4">
            <a:extLst>
              <a:ext uri="{FF2B5EF4-FFF2-40B4-BE49-F238E27FC236}">
                <a16:creationId xmlns:a16="http://schemas.microsoft.com/office/drawing/2014/main" id="{95D9D19D-7DEF-DE84-0460-3B1B3DAFC1EC}"/>
              </a:ext>
            </a:extLst>
          </p:cNvPr>
          <p:cNvGrpSpPr/>
          <p:nvPr/>
        </p:nvGrpSpPr>
        <p:grpSpPr>
          <a:xfrm>
            <a:off x="2640972" y="2425731"/>
            <a:ext cx="1080000" cy="497405"/>
            <a:chOff x="2688258" y="1988840"/>
            <a:chExt cx="1832694" cy="608372"/>
          </a:xfrm>
        </p:grpSpPr>
        <p:sp>
          <p:nvSpPr>
            <p:cNvPr id="52" name="Google Shape;363;p4">
              <a:extLst>
                <a:ext uri="{FF2B5EF4-FFF2-40B4-BE49-F238E27FC236}">
                  <a16:creationId xmlns:a16="http://schemas.microsoft.com/office/drawing/2014/main" id="{6805191A-39A5-4C03-9A4B-D7CFC6ACA6F8}"/>
                </a:ext>
              </a:extLst>
            </p:cNvPr>
            <p:cNvSpPr/>
            <p:nvPr/>
          </p:nvSpPr>
          <p:spPr>
            <a:xfrm>
              <a:off x="2688258" y="1988840"/>
              <a:ext cx="1832694" cy="31867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PMO</a:t>
              </a:r>
              <a:endParaRPr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364;p4">
              <a:extLst>
                <a:ext uri="{FF2B5EF4-FFF2-40B4-BE49-F238E27FC236}">
                  <a16:creationId xmlns:a16="http://schemas.microsoft.com/office/drawing/2014/main" id="{BF044F16-CF26-34CC-A2FF-4FDE49D6EF2B}"/>
                </a:ext>
              </a:extLst>
            </p:cNvPr>
            <p:cNvSpPr/>
            <p:nvPr/>
          </p:nvSpPr>
          <p:spPr>
            <a:xfrm>
              <a:off x="2688258" y="2276872"/>
              <a:ext cx="1832694" cy="32034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" name="Google Shape;365;p4">
            <a:extLst>
              <a:ext uri="{FF2B5EF4-FFF2-40B4-BE49-F238E27FC236}">
                <a16:creationId xmlns:a16="http://schemas.microsoft.com/office/drawing/2014/main" id="{3DDEC85B-9416-8645-389E-5EAF22E40EA3}"/>
              </a:ext>
            </a:extLst>
          </p:cNvPr>
          <p:cNvGrpSpPr/>
          <p:nvPr/>
        </p:nvGrpSpPr>
        <p:grpSpPr>
          <a:xfrm>
            <a:off x="4286927" y="1786021"/>
            <a:ext cx="1080000" cy="477194"/>
            <a:chOff x="2688258" y="1981252"/>
            <a:chExt cx="1832694" cy="583652"/>
          </a:xfrm>
        </p:grpSpPr>
        <p:sp>
          <p:nvSpPr>
            <p:cNvPr id="55" name="Google Shape;366;p4">
              <a:extLst>
                <a:ext uri="{FF2B5EF4-FFF2-40B4-BE49-F238E27FC236}">
                  <a16:creationId xmlns:a16="http://schemas.microsoft.com/office/drawing/2014/main" id="{67C0210D-393A-EB02-28E3-037E8C7A51A3}"/>
                </a:ext>
              </a:extLst>
            </p:cNvPr>
            <p:cNvSpPr/>
            <p:nvPr/>
          </p:nvSpPr>
          <p:spPr>
            <a:xfrm>
              <a:off x="2688258" y="1981252"/>
              <a:ext cx="1832694" cy="29562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开发责任人</a:t>
              </a:r>
              <a:endParaRPr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361;p4">
              <a:extLst>
                <a:ext uri="{FF2B5EF4-FFF2-40B4-BE49-F238E27FC236}">
                  <a16:creationId xmlns:a16="http://schemas.microsoft.com/office/drawing/2014/main" id="{5E938B4B-B2F8-F5E2-20EF-0140DC9E9508}"/>
                </a:ext>
              </a:extLst>
            </p:cNvPr>
            <p:cNvSpPr/>
            <p:nvPr/>
          </p:nvSpPr>
          <p:spPr>
            <a:xfrm>
              <a:off x="2688258" y="2276872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开发部长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" name="Google Shape;367;p4">
            <a:extLst>
              <a:ext uri="{FF2B5EF4-FFF2-40B4-BE49-F238E27FC236}">
                <a16:creationId xmlns:a16="http://schemas.microsoft.com/office/drawing/2014/main" id="{C8462729-7A1D-65F7-EB24-E7E753E08D40}"/>
              </a:ext>
            </a:extLst>
          </p:cNvPr>
          <p:cNvCxnSpPr>
            <a:cxnSpLocks/>
            <a:stCxn id="39" idx="3"/>
            <a:endCxn id="42" idx="1"/>
          </p:cNvCxnSpPr>
          <p:nvPr/>
        </p:nvCxnSpPr>
        <p:spPr>
          <a:xfrm flipV="1">
            <a:off x="5366927" y="3578097"/>
            <a:ext cx="3096780" cy="242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368;p4">
            <a:extLst>
              <a:ext uri="{FF2B5EF4-FFF2-40B4-BE49-F238E27FC236}">
                <a16:creationId xmlns:a16="http://schemas.microsoft.com/office/drawing/2014/main" id="{882B3E32-FCD1-147B-00EB-A1803DA6F1CB}"/>
              </a:ext>
            </a:extLst>
          </p:cNvPr>
          <p:cNvCxnSpPr>
            <a:stCxn id="56" idx="2"/>
            <a:endCxn id="52" idx="3"/>
          </p:cNvCxnSpPr>
          <p:nvPr/>
        </p:nvCxnSpPr>
        <p:spPr>
          <a:xfrm rot="5400000">
            <a:off x="4127477" y="1856565"/>
            <a:ext cx="292800" cy="11061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9" name="Google Shape;369;p4">
            <a:extLst>
              <a:ext uri="{FF2B5EF4-FFF2-40B4-BE49-F238E27FC236}">
                <a16:creationId xmlns:a16="http://schemas.microsoft.com/office/drawing/2014/main" id="{5FA94924-2FEB-FE7A-609D-878A942D8026}"/>
              </a:ext>
            </a:extLst>
          </p:cNvPr>
          <p:cNvGrpSpPr/>
          <p:nvPr/>
        </p:nvGrpSpPr>
        <p:grpSpPr>
          <a:xfrm>
            <a:off x="3778444" y="5019614"/>
            <a:ext cx="1080000" cy="470988"/>
            <a:chOff x="977553" y="2173680"/>
            <a:chExt cx="1832694" cy="576062"/>
          </a:xfrm>
        </p:grpSpPr>
        <p:sp>
          <p:nvSpPr>
            <p:cNvPr id="60" name="Google Shape;370;p4">
              <a:extLst>
                <a:ext uri="{FF2B5EF4-FFF2-40B4-BE49-F238E27FC236}">
                  <a16:creationId xmlns:a16="http://schemas.microsoft.com/office/drawing/2014/main" id="{23AAE04B-EE39-3AB9-0D7C-39D8AB3FFEAE}"/>
                </a:ext>
              </a:extLst>
            </p:cNvPr>
            <p:cNvSpPr/>
            <p:nvPr/>
          </p:nvSpPr>
          <p:spPr>
            <a:xfrm>
              <a:off x="977553" y="2173680"/>
              <a:ext cx="1832694" cy="2880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架构设计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371;p4">
              <a:extLst>
                <a:ext uri="{FF2B5EF4-FFF2-40B4-BE49-F238E27FC236}">
                  <a16:creationId xmlns:a16="http://schemas.microsoft.com/office/drawing/2014/main" id="{9D6DB4AE-3839-66C1-26FE-CA9553174AA4}"/>
                </a:ext>
              </a:extLst>
            </p:cNvPr>
            <p:cNvSpPr/>
            <p:nvPr/>
          </p:nvSpPr>
          <p:spPr>
            <a:xfrm>
              <a:off x="977553" y="2461710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TBA(1名)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2" name="Google Shape;372;p4">
            <a:extLst>
              <a:ext uri="{FF2B5EF4-FFF2-40B4-BE49-F238E27FC236}">
                <a16:creationId xmlns:a16="http://schemas.microsoft.com/office/drawing/2014/main" id="{F77171A2-9E01-5908-9C12-41A87521B251}"/>
              </a:ext>
            </a:extLst>
          </p:cNvPr>
          <p:cNvCxnSpPr>
            <a:stCxn id="40" idx="2"/>
            <a:endCxn id="60" idx="0"/>
          </p:cNvCxnSpPr>
          <p:nvPr/>
        </p:nvCxnSpPr>
        <p:spPr>
          <a:xfrm rot="5400000">
            <a:off x="4004761" y="4197448"/>
            <a:ext cx="1135850" cy="50848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3" name="Google Shape;373;p4">
            <a:extLst>
              <a:ext uri="{FF2B5EF4-FFF2-40B4-BE49-F238E27FC236}">
                <a16:creationId xmlns:a16="http://schemas.microsoft.com/office/drawing/2014/main" id="{F15246F7-D1E2-4830-4FF0-CF4A282C1249}"/>
              </a:ext>
            </a:extLst>
          </p:cNvPr>
          <p:cNvGrpSpPr/>
          <p:nvPr/>
        </p:nvGrpSpPr>
        <p:grpSpPr>
          <a:xfrm>
            <a:off x="6012124" y="5010384"/>
            <a:ext cx="1080000" cy="470988"/>
            <a:chOff x="977553" y="2173680"/>
            <a:chExt cx="1832694" cy="576062"/>
          </a:xfrm>
        </p:grpSpPr>
        <p:sp>
          <p:nvSpPr>
            <p:cNvPr id="64" name="Google Shape;374;p4">
              <a:extLst>
                <a:ext uri="{FF2B5EF4-FFF2-40B4-BE49-F238E27FC236}">
                  <a16:creationId xmlns:a16="http://schemas.microsoft.com/office/drawing/2014/main" id="{52DE0D66-027A-3CF9-B159-6CCA2ACD727B}"/>
                </a:ext>
              </a:extLst>
            </p:cNvPr>
            <p:cNvSpPr/>
            <p:nvPr/>
          </p:nvSpPr>
          <p:spPr>
            <a:xfrm>
              <a:off x="977553" y="2173680"/>
              <a:ext cx="1832694" cy="2880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测试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375;p4">
              <a:extLst>
                <a:ext uri="{FF2B5EF4-FFF2-40B4-BE49-F238E27FC236}">
                  <a16:creationId xmlns:a16="http://schemas.microsoft.com/office/drawing/2014/main" id="{B0D2E23D-FE87-15FD-6407-6B143DF085DE}"/>
                </a:ext>
              </a:extLst>
            </p:cNvPr>
            <p:cNvSpPr/>
            <p:nvPr/>
          </p:nvSpPr>
          <p:spPr>
            <a:xfrm>
              <a:off x="977553" y="2461710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TBA(1名)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376;p4">
            <a:extLst>
              <a:ext uri="{FF2B5EF4-FFF2-40B4-BE49-F238E27FC236}">
                <a16:creationId xmlns:a16="http://schemas.microsoft.com/office/drawing/2014/main" id="{B7455BB2-B69F-2B0B-4686-518DF8D0DD0F}"/>
              </a:ext>
            </a:extLst>
          </p:cNvPr>
          <p:cNvGrpSpPr/>
          <p:nvPr/>
        </p:nvGrpSpPr>
        <p:grpSpPr>
          <a:xfrm>
            <a:off x="2661604" y="5019614"/>
            <a:ext cx="1080000" cy="470988"/>
            <a:chOff x="977553" y="2173680"/>
            <a:chExt cx="1832694" cy="576062"/>
          </a:xfrm>
        </p:grpSpPr>
        <p:sp>
          <p:nvSpPr>
            <p:cNvPr id="67" name="Google Shape;377;p4">
              <a:extLst>
                <a:ext uri="{FF2B5EF4-FFF2-40B4-BE49-F238E27FC236}">
                  <a16:creationId xmlns:a16="http://schemas.microsoft.com/office/drawing/2014/main" id="{8755EDCE-E0C0-97AA-0E52-6A904444AC5E}"/>
                </a:ext>
              </a:extLst>
            </p:cNvPr>
            <p:cNvSpPr/>
            <p:nvPr/>
          </p:nvSpPr>
          <p:spPr>
            <a:xfrm>
              <a:off x="977553" y="2173680"/>
              <a:ext cx="1832694" cy="2880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UI/UX设计</a:t>
              </a: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378;p4">
              <a:extLst>
                <a:ext uri="{FF2B5EF4-FFF2-40B4-BE49-F238E27FC236}">
                  <a16:creationId xmlns:a16="http://schemas.microsoft.com/office/drawing/2014/main" id="{27FCA40B-DAB9-88EF-1F59-8BE934FFCC97}"/>
                </a:ext>
              </a:extLst>
            </p:cNvPr>
            <p:cNvSpPr/>
            <p:nvPr/>
          </p:nvSpPr>
          <p:spPr>
            <a:xfrm>
              <a:off x="977553" y="2461710"/>
              <a:ext cx="1832694" cy="2880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zh-C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TBA(1名)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9" name="Google Shape;379;p4">
            <a:extLst>
              <a:ext uri="{FF2B5EF4-FFF2-40B4-BE49-F238E27FC236}">
                <a16:creationId xmlns:a16="http://schemas.microsoft.com/office/drawing/2014/main" id="{FFB9CC68-EFDE-4450-FA6B-001877DDC624}"/>
              </a:ext>
            </a:extLst>
          </p:cNvPr>
          <p:cNvCxnSpPr>
            <a:stCxn id="40" idx="2"/>
            <a:endCxn id="67" idx="0"/>
          </p:cNvCxnSpPr>
          <p:nvPr/>
        </p:nvCxnSpPr>
        <p:spPr>
          <a:xfrm rot="5400000">
            <a:off x="3446341" y="3639028"/>
            <a:ext cx="1135850" cy="162532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380;p4">
            <a:extLst>
              <a:ext uri="{FF2B5EF4-FFF2-40B4-BE49-F238E27FC236}">
                <a16:creationId xmlns:a16="http://schemas.microsoft.com/office/drawing/2014/main" id="{AE2E65B8-DC27-21A0-A4E6-755E651225D4}"/>
              </a:ext>
            </a:extLst>
          </p:cNvPr>
          <p:cNvCxnSpPr>
            <a:stCxn id="40" idx="2"/>
            <a:endCxn id="64" idx="0"/>
          </p:cNvCxnSpPr>
          <p:nvPr/>
        </p:nvCxnSpPr>
        <p:spPr>
          <a:xfrm rot="16200000" flipH="1">
            <a:off x="5126215" y="3584475"/>
            <a:ext cx="1126620" cy="172519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381;p4">
            <a:extLst>
              <a:ext uri="{FF2B5EF4-FFF2-40B4-BE49-F238E27FC236}">
                <a16:creationId xmlns:a16="http://schemas.microsoft.com/office/drawing/2014/main" id="{83D41E01-FA4C-EB23-E426-E9A6C8EA6395}"/>
              </a:ext>
            </a:extLst>
          </p:cNvPr>
          <p:cNvSpPr txBox="1"/>
          <p:nvPr/>
        </p:nvSpPr>
        <p:spPr>
          <a:xfrm>
            <a:off x="1873187" y="1429298"/>
            <a:ext cx="7546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sz="1400" b="0" i="0" u="none" strike="noStrike" cap="none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我司</a:t>
            </a:r>
            <a:endParaRPr sz="1400" b="0" i="0" u="none" strike="noStrike" cap="none" dirty="0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72" name="Google Shape;382;p4">
            <a:extLst>
              <a:ext uri="{FF2B5EF4-FFF2-40B4-BE49-F238E27FC236}">
                <a16:creationId xmlns:a16="http://schemas.microsoft.com/office/drawing/2014/main" id="{EC9536CE-B3F1-AC32-8C63-47AF0ED529F1}"/>
              </a:ext>
            </a:extLst>
          </p:cNvPr>
          <p:cNvSpPr txBox="1"/>
          <p:nvPr/>
        </p:nvSpPr>
        <p:spPr>
          <a:xfrm>
            <a:off x="8000258" y="1425007"/>
            <a:ext cx="7546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贵司</a:t>
            </a:r>
            <a:endParaRPr sz="1400" b="0" i="0" u="none" strike="noStrike" cap="non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73" name="Google Shape;385;p4">
            <a:extLst>
              <a:ext uri="{FF2B5EF4-FFF2-40B4-BE49-F238E27FC236}">
                <a16:creationId xmlns:a16="http://schemas.microsoft.com/office/drawing/2014/main" id="{17D6B63E-16FD-404C-843C-4D2EB92CEA5A}"/>
              </a:ext>
            </a:extLst>
          </p:cNvPr>
          <p:cNvCxnSpPr>
            <a:stCxn id="40" idx="2"/>
            <a:endCxn id="48" idx="0"/>
          </p:cNvCxnSpPr>
          <p:nvPr/>
        </p:nvCxnSpPr>
        <p:spPr>
          <a:xfrm rot="16200000" flipH="1">
            <a:off x="4563180" y="4147510"/>
            <a:ext cx="1135851" cy="60835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06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产品预算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Image 3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68C4E-E919-4551-8FE2-3D7BB7CA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
            <a:extLst>
              <a:ext uri="{FF2B5EF4-FFF2-40B4-BE49-F238E27FC236}">
                <a16:creationId xmlns:a16="http://schemas.microsoft.com/office/drawing/2014/main" id="{23F36D68-7830-56D1-03BC-DEA3104016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A23A09E0-AC9D-56A9-0F8E-D4276EFAE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EBE17274-097F-DCBF-6A3E-0D0BE4A90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>
            <a:extLst>
              <a:ext uri="{FF2B5EF4-FFF2-40B4-BE49-F238E27FC236}">
                <a16:creationId xmlns:a16="http://schemas.microsoft.com/office/drawing/2014/main" id="{14DB7AC5-AE8C-9FDB-9F1D-1C08216A4D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3553033F-9A0E-D842-949B-728F4D06D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890615B8-BD66-AD1D-8BC8-5BD031869871}"/>
              </a:ext>
            </a:extLst>
          </p:cNvPr>
          <p:cNvSpPr/>
          <p:nvPr/>
        </p:nvSpPr>
        <p:spPr>
          <a:xfrm>
            <a:off x="914400" y="28194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BA8F225-25B5-E9B6-8559-0DEFA1186A75}"/>
              </a:ext>
            </a:extLst>
          </p:cNvPr>
          <p:cNvSpPr/>
          <p:nvPr/>
        </p:nvSpPr>
        <p:spPr>
          <a:xfrm>
            <a:off x="3251200" y="28194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1A900D16-B391-4C91-6EB2-72242A810B55}"/>
              </a:ext>
            </a:extLst>
          </p:cNvPr>
          <p:cNvSpPr/>
          <p:nvPr/>
        </p:nvSpPr>
        <p:spPr>
          <a:xfrm>
            <a:off x="875792" y="228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000" b="1" dirty="0">
                <a:solidFill>
                  <a:srgbClr val="0C3C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itchFamily="34" charset="-120"/>
              </a:rPr>
              <a:t>产品预算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FDFE2C7-763E-2B57-9D85-F9BBBC266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782951"/>
              </p:ext>
            </p:extLst>
          </p:nvPr>
        </p:nvGraphicFramePr>
        <p:xfrm>
          <a:off x="618744" y="1414145"/>
          <a:ext cx="10628376" cy="349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324">
                  <a:extLst>
                    <a:ext uri="{9D8B030D-6E8A-4147-A177-3AD203B41FA5}">
                      <a16:colId xmlns:a16="http://schemas.microsoft.com/office/drawing/2014/main" val="767555109"/>
                    </a:ext>
                  </a:extLst>
                </a:gridCol>
                <a:gridCol w="831310">
                  <a:extLst>
                    <a:ext uri="{9D8B030D-6E8A-4147-A177-3AD203B41FA5}">
                      <a16:colId xmlns:a16="http://schemas.microsoft.com/office/drawing/2014/main" val="308890736"/>
                    </a:ext>
                  </a:extLst>
                </a:gridCol>
                <a:gridCol w="1752684">
                  <a:extLst>
                    <a:ext uri="{9D8B030D-6E8A-4147-A177-3AD203B41FA5}">
                      <a16:colId xmlns:a16="http://schemas.microsoft.com/office/drawing/2014/main" val="3084150970"/>
                    </a:ext>
                  </a:extLst>
                </a:gridCol>
                <a:gridCol w="1212138">
                  <a:extLst>
                    <a:ext uri="{9D8B030D-6E8A-4147-A177-3AD203B41FA5}">
                      <a16:colId xmlns:a16="http://schemas.microsoft.com/office/drawing/2014/main" val="2764242677"/>
                    </a:ext>
                  </a:extLst>
                </a:gridCol>
                <a:gridCol w="1687159">
                  <a:extLst>
                    <a:ext uri="{9D8B030D-6E8A-4147-A177-3AD203B41FA5}">
                      <a16:colId xmlns:a16="http://schemas.microsoft.com/office/drawing/2014/main" val="1736870080"/>
                    </a:ext>
                  </a:extLst>
                </a:gridCol>
                <a:gridCol w="4647761">
                  <a:extLst>
                    <a:ext uri="{9D8B030D-6E8A-4147-A177-3AD203B41FA5}">
                      <a16:colId xmlns:a16="http://schemas.microsoft.com/office/drawing/2014/main" val="4067086645"/>
                    </a:ext>
                  </a:extLst>
                </a:gridCol>
              </a:tblGrid>
              <a:tr h="43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CN" sz="1600" u="none" strike="noStrike" cap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＃</a:t>
                      </a:r>
                      <a:endParaRPr sz="1600" b="1" i="0" u="none" strike="noStrike" cap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8300" marR="8300" marT="830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CN" sz="1600" b="1" u="none" strike="noStrike" cap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工程阶段</a:t>
                      </a:r>
                      <a:endParaRPr sz="1600" b="1" i="0" u="none" strike="noStrike" cap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8300" marR="8300" marT="8300" marB="0" anchor="ctr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CN" sz="1600" b="1" u="none" strike="noStrike" cap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工时(人天)</a:t>
                      </a:r>
                      <a:endParaRPr sz="1600" b="1" i="0" u="none" strike="noStrike" cap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8300" marR="8300" marT="83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CN" sz="1600" u="none" strike="noStrike" cap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成员角色</a:t>
                      </a:r>
                      <a:endParaRPr sz="1600" u="none" strike="noStrike" cap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8300" marR="8300" marT="83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zh-CN" sz="1600" u="none" strike="noStrike" cap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备注</a:t>
                      </a:r>
                      <a:endParaRPr sz="1600" b="1" i="0" u="none" strike="noStrike" cap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8300" marR="8300" marT="8300" marB="0" anchor="ctr"/>
                </a:tc>
                <a:extLst>
                  <a:ext uri="{0D108BD9-81ED-4DB2-BD59-A6C34878D82A}">
                    <a16:rowId xmlns:a16="http://schemas.microsoft.com/office/drawing/2014/main" val="2785464221"/>
                  </a:ext>
                </a:extLst>
              </a:tr>
              <a:tr h="4364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b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需求分析/</a:t>
                      </a:r>
                      <a:endParaRPr sz="1400" u="none" strike="noStrike" cap="none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b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基本设计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需求分析、UI・UX设计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  <a:sym typeface="Microsoft YaHei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需求分析师、UI设计师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需求分析、业务流梳理、UI・UX 设计、页面设计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1285389"/>
                  </a:ext>
                </a:extLst>
              </a:tr>
              <a:tr h="43645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Framework设计・搭建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5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架构师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前端架构设计与搭建、后端架构设计与搭建、缓存设计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6821568"/>
                  </a:ext>
                </a:extLst>
              </a:tr>
              <a:tr h="43645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DB设计等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5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架构师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表结构设计、字段设计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8950255"/>
                  </a:ext>
                </a:extLst>
              </a:tr>
              <a:tr h="43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2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altLang="en-US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功能</a:t>
                      </a: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开发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  <a:sym typeface="Microsoft YaHei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全员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企微应用</a:t>
                      </a:r>
                      <a:r>
                        <a:rPr lang="zh-CN" altLang="en-US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加</a:t>
                      </a:r>
                      <a:r>
                        <a:rPr lang="en-US" alt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pc</a:t>
                      </a: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管理</a:t>
                      </a:r>
                      <a:r>
                        <a:rPr lang="zh-CN" altLang="en-US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后台的</a:t>
                      </a: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功能开发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391195"/>
                  </a:ext>
                </a:extLst>
              </a:tr>
              <a:tr h="43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3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系统测试</a:t>
                      </a:r>
                      <a:endParaRPr lang="zh-CN" altLang="en-US"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  <a:sym typeface="Microsoft YaHei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测试、系统工程师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altLang="en-US" sz="1200" b="0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  <a:sym typeface="Microsoft YaHei"/>
                        </a:rPr>
                        <a:t>集成，系统测试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2496440"/>
                  </a:ext>
                </a:extLst>
              </a:tr>
              <a:tr h="43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zh-CN" sz="1200" b="0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5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生产环境</a:t>
                      </a:r>
                      <a:r>
                        <a:rPr lang="zh-CN" altLang="en-US" sz="1200" u="none" strike="noStrike" cap="non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发布</a:t>
                      </a:r>
                      <a:endParaRPr lang="zh-CN" altLang="en-US"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  <a:sym typeface="Microsoft YaHei"/>
                        </a:rPr>
                        <a:t>2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120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全员</a:t>
                      </a:r>
                      <a:endParaRPr lang="zh-CN" altLang="en-US" sz="120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9471125"/>
                  </a:ext>
                </a:extLst>
              </a:tr>
              <a:tr h="43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CN" sz="1400" b="1" u="none" strike="noStrike" cap="none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Microsoft YaHei"/>
                        </a:rPr>
                        <a:t>合计工时(人天)</a:t>
                      </a:r>
                      <a:endParaRPr sz="1400" b="1" i="0" u="none" strike="noStrike" cap="none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  <a:sym typeface="Microsoft YaHei"/>
                        </a:rPr>
                        <a:t>82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Microsoft YaHei"/>
                        <a:sym typeface="Microsoft YaHei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10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4722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69330" y="1776730"/>
            <a:ext cx="5887085" cy="1128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C48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感谢您的观看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1" descr="https://kimi-img.moonshot.cn/pub/slides/slides_tmpl/image/25-09-05-18:06:27-d2tbc8tnfo2stf9djp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2162810"/>
            <a:ext cx="2831465" cy="469519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5-18:06:13-d2tbc5dnfo2stf9djp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0"/>
            <a:ext cx="2870835" cy="5048250"/>
          </a:xfrm>
          <a:prstGeom prst="rect">
            <a:avLst/>
          </a:prstGeom>
        </p:spPr>
      </p:pic>
      <p:pic>
        <p:nvPicPr>
          <p:cNvPr id="8" name="Image 3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53695" y="155575"/>
            <a:ext cx="624840" cy="2007235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5-18:06:11-d2tbc4tnfo2stf9djot0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3910330" y="1856740"/>
            <a:ext cx="880110" cy="88011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210300" y="3207385"/>
            <a:ext cx="5887085" cy="1128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THANK YOU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Image 5" descr="https://kimi-img.moonshot.cn/pub/slides/slides_tmpl/image/25-09-05-18:06:15-d2tbc5tnfo2stf9djp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445" y="2961005"/>
            <a:ext cx="4531995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480</Words>
  <Application>Microsoft Office PowerPoint</Application>
  <PresentationFormat>宽屏</PresentationFormat>
  <Paragraphs>143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Arial</vt:lpstr>
      <vt:lpstr>MiSans</vt:lpstr>
      <vt:lpstr>微软雅黑</vt:lpstr>
      <vt:lpstr>微软雅黑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Isaac</dc:creator>
  <cp:lastModifiedBy>li Liu</cp:lastModifiedBy>
  <cp:revision>48</cp:revision>
  <dcterms:created xsi:type="dcterms:W3CDTF">2025-10-30T05:50:44Z</dcterms:created>
  <dcterms:modified xsi:type="dcterms:W3CDTF">2026-03-30T07:55:10Z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{"Label":"HP会议电子签到系统提案","ContentProducer":"001191110108MACG2KBH8F10000","ProduceID":"d41fd1o52cetjt0kg4jg","ReservedCode1":"","ContentPropagator":"001191110108MACG2KBH8F20000","PropagateID":"d41fd1o52cetjt0kg4jg","ReservedCode2":""}</vt:lpwstr>
  </property>
</Properties>
</file>